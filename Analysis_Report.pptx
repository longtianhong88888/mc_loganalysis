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spPr>
            <a:ln w="28575">
              <a:solidFill>
                <a:srgbClr val="007AFF"/>
              </a:solidFill>
            </a:ln>
          </c:spPr>
          <c:cat>
            <c:strRef>
              <c:f>Sheet1!$A$2:$A$25</c:f>
              <c:strCache>
                <c:ptCount val="24"/>
                <c:pt idx="0">
                  <c:v>06:00</c:v>
                </c:pt>
                <c:pt idx="1">
                  <c:v>07:00</c:v>
                </c:pt>
                <c:pt idx="2">
                  <c:v>08:00</c:v>
                </c:pt>
                <c:pt idx="3">
                  <c:v>09:00</c:v>
                </c:pt>
                <c:pt idx="4">
                  <c:v>10:00</c:v>
                </c:pt>
                <c:pt idx="5">
                  <c:v>11:00</c:v>
                </c:pt>
                <c:pt idx="6">
                  <c:v>12:00</c:v>
                </c:pt>
                <c:pt idx="7">
                  <c:v>13:00</c:v>
                </c:pt>
                <c:pt idx="8">
                  <c:v>14:00</c:v>
                </c:pt>
                <c:pt idx="9">
                  <c:v>15:00</c:v>
                </c:pt>
                <c:pt idx="10">
                  <c:v>16:00</c:v>
                </c:pt>
                <c:pt idx="11">
                  <c:v>17:00</c:v>
                </c:pt>
                <c:pt idx="12">
                  <c:v>18:00</c:v>
                </c:pt>
                <c:pt idx="13">
                  <c:v>19:00</c:v>
                </c:pt>
                <c:pt idx="14">
                  <c:v>20:00</c:v>
                </c:pt>
                <c:pt idx="15">
                  <c:v>21:00</c:v>
                </c:pt>
                <c:pt idx="16">
                  <c:v>22:00</c:v>
                </c:pt>
                <c:pt idx="17">
                  <c:v>23:00</c:v>
                </c:pt>
                <c:pt idx="18">
                  <c:v>00:00</c:v>
                </c:pt>
                <c:pt idx="19">
                  <c:v>01:00</c:v>
                </c:pt>
                <c:pt idx="20">
                  <c:v>02:00</c:v>
                </c:pt>
                <c:pt idx="21">
                  <c:v>03:00</c:v>
                </c:pt>
                <c:pt idx="22">
                  <c:v>04:00</c:v>
                </c:pt>
                <c:pt idx="23">
                  <c:v>05:00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0.0</c:v>
                </c:pt>
                <c:pt idx="1">
                  <c:v>0.0</c:v>
                </c:pt>
                <c:pt idx="2">
                  <c:v>53.17</c:v>
                </c:pt>
                <c:pt idx="3">
                  <c:v>89.67</c:v>
                </c:pt>
                <c:pt idx="4">
                  <c:v>100.0</c:v>
                </c:pt>
                <c:pt idx="5">
                  <c:v>79.03</c:v>
                </c:pt>
                <c:pt idx="6">
                  <c:v>72.08</c:v>
                </c:pt>
                <c:pt idx="7">
                  <c:v>78.97</c:v>
                </c:pt>
                <c:pt idx="8">
                  <c:v>88.81</c:v>
                </c:pt>
                <c:pt idx="9">
                  <c:v>100.0</c:v>
                </c:pt>
                <c:pt idx="10">
                  <c:v>100.0</c:v>
                </c:pt>
                <c:pt idx="11">
                  <c:v>75.89</c:v>
                </c:pt>
                <c:pt idx="12">
                  <c:v>0.0</c:v>
                </c:pt>
                <c:pt idx="13">
                  <c:v>0.0</c:v>
                </c:pt>
                <c:pt idx="14">
                  <c:v>31.11</c:v>
                </c:pt>
                <c:pt idx="15">
                  <c:v>88.39</c:v>
                </c:pt>
                <c:pt idx="16">
                  <c:v>94.28</c:v>
                </c:pt>
                <c:pt idx="17">
                  <c:v>97.81</c:v>
                </c:pt>
                <c:pt idx="18">
                  <c:v>62.33</c:v>
                </c:pt>
                <c:pt idx="19">
                  <c:v>94.69</c:v>
                </c:pt>
                <c:pt idx="20">
                  <c:v>98.11</c:v>
                </c:pt>
                <c:pt idx="21">
                  <c:v>89.28</c:v>
                </c:pt>
                <c:pt idx="22">
                  <c:v>13.64</c:v>
                </c:pt>
                <c:pt idx="23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86868B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1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>
          <a:solidFill>
            <a:srgbClr val="3A3A3C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dPt>
            <c:idx val="0"/>
            <c:spPr>
              <a:solidFill>
                <a:srgbClr val="007AFF"/>
              </a:solidFill>
            </c:spPr>
          </c:dPt>
          <c:cat>
            <c:strRef>
              <c:f>Sheet1!$A$2:$A$2</c:f>
              <c:strCache>
                <c:ptCount val="1"/>
                <c:pt idx="0">
                  <c:v>CAW7203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18440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4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21000.0"/>
        </c:scaling>
        <c:delete val="0"/>
        <c:axPos val="l"/>
        <c:majorGridlines/>
        <c:majorTickMark val="out"/>
        <c:minorTickMark val="none"/>
        <c:tickLblPos val="nextTo"/>
        <c:crossAx val="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A3A3C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dPt>
            <c:idx val="0"/>
            <c:spPr>
              <a:solidFill>
                <a:srgbClr val="34C759"/>
              </a:solidFill>
            </c:spPr>
          </c:dPt>
          <c:dPt>
            <c:idx val="1"/>
            <c:spPr>
              <a:solidFill>
                <a:srgbClr val="FF9F0A"/>
              </a:solidFill>
            </c:spPr>
          </c:dPt>
          <c:dPt>
            <c:idx val="2"/>
            <c:spPr>
              <a:solidFill>
                <a:srgbClr val="FF3B30"/>
              </a:solidFill>
            </c:spPr>
          </c:dPt>
          <c:cat>
            <c:strRef>
              <c:f>Sheet1!$A$2:$A$4</c:f>
              <c:strCache>
                <c:ptCount val="3"/>
                <c:pt idx="0">
                  <c:v>运行RUN</c:v>
                </c:pt>
                <c:pt idx="1">
                  <c:v>待机IDLE</c:v>
                </c:pt>
                <c:pt idx="2">
                  <c:v>停机DOWN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46434</c:v>
                </c:pt>
                <c:pt idx="1">
                  <c:v>7827</c:v>
                </c:pt>
                <c:pt idx="2">
                  <c:v>32139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200">
          <a:solidFill>
            <a:srgbClr val="3A3A3C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dPt>
            <c:idx val="0"/>
            <c:spPr>
              <a:solidFill>
                <a:srgbClr val="34C759"/>
              </a:solidFill>
            </c:spPr>
          </c:dPt>
          <c:dPt>
            <c:idx val="1"/>
            <c:spPr>
              <a:solidFill>
                <a:srgbClr val="FF9F0A"/>
              </a:solidFill>
            </c:spPr>
          </c:dPt>
          <c:dPt>
            <c:idx val="2"/>
            <c:spPr>
              <a:solidFill>
                <a:srgbClr val="FF3B30"/>
              </a:solidFill>
            </c:spPr>
          </c:dPt>
          <c:cat>
            <c:strRef>
              <c:f>Sheet1!$A$2:$A$4</c:f>
              <c:strCache>
                <c:ptCount val="3"/>
                <c:pt idx="0">
                  <c:v>RUN</c:v>
                </c:pt>
                <c:pt idx="1">
                  <c:v>IDLE</c:v>
                </c:pt>
                <c:pt idx="2">
                  <c:v>DOWN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46434</c:v>
                </c:pt>
                <c:pt idx="1">
                  <c:v>32139</c:v>
                </c:pt>
                <c:pt idx="2">
                  <c:v>7827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200">
          <a:solidFill>
            <a:srgbClr val="3A3A3C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封面：CAW7203 联网分析报告。KPI：总产出 18440、实际UPH 768.33、综合EFF 62.8%。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 小时 EFF 趋势；06:00-08:00 为 0，低点建议结合停机 Pareto 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UPH 上下布局：上层各机台产出柱状图，下层 7 列机台明细表。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EFF 62.8%；时间构成：RUN 46434s / IDLE 7827s / DOWN 32139s。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停机 Pareto（横向条形图，全宽）；常規清潔機台 17340s 占 53.95%。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报警 Top10（横向条形图，全宽），原因名过长时在图表轴自动折行。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正常运行占比 53.7%，低于行业基准 ≥75%（红）。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2F2F7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999232"/>
            <a:ext cx="731520" cy="118872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3611880"/>
            <a:ext cx="112196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D1D1F"/>
                </a:solidFill>
                <a:latin typeface="Arial"/>
                <a:ea typeface="微软雅黑"/>
                <a:cs typeface="微软雅黑"/>
              </a:rPr>
              <a:t>CAW設備能效報告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4626864"/>
            <a:ext cx="8129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86868B"/>
                </a:solidFill>
                <a:latin typeface="Arial"/>
                <a:ea typeface="微软雅黑"/>
                <a:cs typeface="微软雅黑"/>
              </a:rPr>
              <a:t>—— UPH、EFF、Alarm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5303520"/>
            <a:ext cx="3569208" cy="960120"/>
          </a:xfrm>
          <a:prstGeom prst="roundRect">
            <a:avLst>
              <a:gd name="adj" fmla="val 8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94360" y="5349240"/>
            <a:ext cx="3349752" cy="0"/>
          </a:xfrm>
          <a:prstGeom prst="line">
            <a:avLst/>
          </a:prstGeom>
          <a:ln w="9525">
            <a:solidFill>
              <a:srgbClr val="E5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84632" y="5413248"/>
            <a:ext cx="356920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007AFF"/>
                </a:solidFill>
                <a:latin typeface="Arial"/>
                <a:ea typeface="微软雅黑"/>
                <a:cs typeface="微软雅黑"/>
              </a:rPr>
              <a:t>18,440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5925312"/>
            <a:ext cx="35692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86868B"/>
                </a:solidFill>
                <a:latin typeface="Arial"/>
                <a:ea typeface="微软雅黑"/>
                <a:cs typeface="微软雅黑"/>
              </a:rPr>
              <a:t>总产出(个)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9872" y="5303520"/>
            <a:ext cx="3569208" cy="960120"/>
          </a:xfrm>
          <a:prstGeom prst="roundRect">
            <a:avLst>
              <a:gd name="adj" fmla="val 8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419600" y="5349240"/>
            <a:ext cx="3349752" cy="0"/>
          </a:xfrm>
          <a:prstGeom prst="line">
            <a:avLst/>
          </a:prstGeom>
          <a:ln w="9525">
            <a:solidFill>
              <a:srgbClr val="E5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09872" y="5413248"/>
            <a:ext cx="356920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007AFF"/>
                </a:solidFill>
                <a:latin typeface="Arial"/>
                <a:ea typeface="微软雅黑"/>
                <a:cs typeface="微软雅黑"/>
              </a:rPr>
              <a:t>768.33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9872" y="5925312"/>
            <a:ext cx="35692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86868B"/>
                </a:solidFill>
                <a:latin typeface="Arial"/>
                <a:ea typeface="微软雅黑"/>
                <a:cs typeface="微软雅黑"/>
              </a:rPr>
              <a:t>实际UPH(pcs/h)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5112" y="5303520"/>
            <a:ext cx="3569208" cy="960120"/>
          </a:xfrm>
          <a:prstGeom prst="roundRect">
            <a:avLst>
              <a:gd name="adj" fmla="val 8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8244840" y="5349240"/>
            <a:ext cx="3349752" cy="0"/>
          </a:xfrm>
          <a:prstGeom prst="line">
            <a:avLst/>
          </a:prstGeom>
          <a:ln w="9525">
            <a:solidFill>
              <a:srgbClr val="E5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5112" y="5413248"/>
            <a:ext cx="356920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007AFF"/>
                </a:solidFill>
                <a:latin typeface="Arial"/>
                <a:ea typeface="微软雅黑"/>
                <a:cs typeface="微软雅黑"/>
              </a:rPr>
              <a:t>62.8%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5112" y="5925312"/>
            <a:ext cx="35692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86868B"/>
                </a:solidFill>
                <a:latin typeface="Arial"/>
                <a:ea typeface="微软雅黑"/>
                <a:cs typeface="微软雅黑"/>
              </a:rPr>
              <a:t>综合EFF(%)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4632" y="6327648"/>
            <a:ext cx="11219688" cy="0"/>
          </a:xfrm>
          <a:prstGeom prst="line">
            <a:avLst/>
          </a:prstGeom>
          <a:ln w="12700">
            <a:solidFill>
              <a:srgbClr val="E5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4632" y="6510528"/>
            <a:ext cx="6501384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6868B"/>
                </a:solidFill>
                <a:latin typeface="Arial"/>
                <a:ea typeface="微软雅黑"/>
                <a:cs typeface="微软雅黑"/>
              </a:rPr>
              <a:t>© 2026 Hon Hai Precision Industry Co., Ltd. All rights reserved.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70464" y="6510528"/>
            <a:ext cx="113385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07AFF"/>
                </a:solidFill>
                <a:latin typeface="Arial"/>
                <a:ea typeface="微软雅黑"/>
                <a:cs typeface="微软雅黑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4632" y="329184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329184"/>
            <a:ext cx="1234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7AFF"/>
                </a:solidFill>
                <a:latin typeface="Arial"/>
                <a:ea typeface="微软雅黑"/>
                <a:cs typeface="微软雅黑"/>
              </a:rPr>
              <a:t>设备能效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37744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Arial"/>
                <a:ea typeface="微软雅黑"/>
                <a:cs typeface="微软雅黑"/>
              </a:rPr>
              <a:t>机台状态趋势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38944" y="329184"/>
            <a:ext cx="1865376" cy="38404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38944" y="329184"/>
            <a:ext cx="18653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7AFF"/>
                </a:solidFill>
                <a:latin typeface="Arial"/>
                <a:ea typeface="微软雅黑"/>
                <a:cs typeface="微软雅黑"/>
              </a:rPr>
              <a:t>02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896112"/>
            <a:ext cx="112196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  <a:latin typeface="Arial"/>
                <a:ea typeface="微软雅黑"/>
                <a:cs typeface="微软雅黑"/>
              </a:rPr>
              <a:t>每小时 EFF 趋势（低点 2026-08-11 06:00：EFF 0.0%，建议结合停机 Pareto 排查）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4632" y="1389888"/>
            <a:ext cx="11219688" cy="0"/>
          </a:xfrm>
          <a:prstGeom prst="line">
            <a:avLst/>
          </a:prstGeom>
          <a:ln w="25400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" y="1572768"/>
            <a:ext cx="11457432" cy="4645152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 w="12700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2648" y="2103120"/>
          <a:ext cx="1097280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1" name="Connector 10"/>
          <p:cNvCxnSpPr/>
          <p:nvPr/>
        </p:nvCxnSpPr>
        <p:spPr>
          <a:xfrm>
            <a:off x="484632" y="6400800"/>
            <a:ext cx="11219688" cy="0"/>
          </a:xfrm>
          <a:prstGeom prst="line">
            <a:avLst/>
          </a:prstGeom>
          <a:ln w="12700">
            <a:solidFill>
              <a:srgbClr val="E5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4632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6868B"/>
                </a:solidFill>
                <a:latin typeface="Arial"/>
                <a:ea typeface="微软雅黑"/>
                <a:cs typeface="微软雅黑"/>
              </a:rPr>
              <a:t>© 2026 Hon Hai Precision Industry Co., Ltd. All rights reserved.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>
                <a:solidFill>
                  <a:srgbClr val="007AFF"/>
                </a:solidFill>
                <a:latin typeface="Arial"/>
                <a:ea typeface="微软雅黑"/>
                <a:cs typeface="微软雅黑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4632" y="329184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329184"/>
            <a:ext cx="1234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7AFF"/>
                </a:solidFill>
                <a:latin typeface="Arial"/>
                <a:ea typeface="微软雅黑"/>
                <a:cs typeface="微软雅黑"/>
              </a:rPr>
              <a:t>设备能效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37744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Arial"/>
                <a:ea typeface="微软雅黑"/>
                <a:cs typeface="微软雅黑"/>
              </a:rPr>
              <a:t>UPH 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38944" y="329184"/>
            <a:ext cx="1865376" cy="38404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38944" y="329184"/>
            <a:ext cx="18653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7AFF"/>
                </a:solidFill>
                <a:latin typeface="Arial"/>
                <a:ea typeface="微软雅黑"/>
                <a:cs typeface="微软雅黑"/>
              </a:rPr>
              <a:t>03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896112"/>
            <a:ext cx="112196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  <a:latin typeface="Arial"/>
                <a:ea typeface="微软雅黑"/>
                <a:cs typeface="微软雅黑"/>
              </a:rPr>
              <a:t>联网机台产出：总产出 18440 个 · 实际UPH 768.33/h · 1 台机台（2026/08/11 06:00:00 ~ 2026/08/12 06:00:00）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4632" y="1389888"/>
            <a:ext cx="11219688" cy="0"/>
          </a:xfrm>
          <a:prstGeom prst="line">
            <a:avLst/>
          </a:prstGeom>
          <a:ln w="25400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" y="1572768"/>
            <a:ext cx="11457432" cy="2651760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 w="12700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2560320" y="1874519"/>
          <a:ext cx="7040880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65760" y="4389120"/>
            <a:ext cx="11457432" cy="1828800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 w="12700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4553712"/>
          <a:ext cx="1106423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167"/>
                <a:gridCol w="2093234"/>
                <a:gridCol w="1196134"/>
                <a:gridCol w="1495167"/>
                <a:gridCol w="1495167"/>
                <a:gridCol w="1495167"/>
                <a:gridCol w="1794201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D1D1F"/>
                          </a:solidFill>
                          <a:latin typeface="Arial"/>
                          <a:ea typeface="微软雅黑"/>
                          <a:cs typeface="微软雅黑"/>
                        </a:rPr>
                        <a:t>机台号</a:t>
                      </a:r>
                    </a:p>
                  </a:txBody>
                  <a:tcPr anchor="ctr" marL="54864" marR="54864">
                    <a:solidFill>
                      <a:srgbClr val="F9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D1D1F"/>
                          </a:solidFill>
                          <a:latin typeface="Arial"/>
                          <a:ea typeface="微软雅黑"/>
                          <a:cs typeface="微软雅黑"/>
                        </a:rPr>
                        <a:t>设备(机型)</a:t>
                      </a:r>
                    </a:p>
                  </a:txBody>
                  <a:tcPr anchor="ctr" marL="54864" marR="54864">
                    <a:solidFill>
                      <a:srgbClr val="F9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D1D1F"/>
                          </a:solidFill>
                          <a:latin typeface="Arial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anchor="ctr" marL="54864" marR="54864">
                    <a:solidFill>
                      <a:srgbClr val="F9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D1D1F"/>
                          </a:solidFill>
                          <a:latin typeface="Arial"/>
                          <a:ea typeface="微软雅黑"/>
                          <a:cs typeface="微软雅黑"/>
                        </a:rPr>
                        <a:t>投入(个)</a:t>
                      </a:r>
                    </a:p>
                  </a:txBody>
                  <a:tcPr anchor="ctr" marL="54864" marR="54864">
                    <a:solidFill>
                      <a:srgbClr val="F9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D1D1F"/>
                          </a:solidFill>
                          <a:latin typeface="Arial"/>
                          <a:ea typeface="微软雅黑"/>
                          <a:cs typeface="微软雅黑"/>
                        </a:rPr>
                        <a:t>产出(个)</a:t>
                      </a:r>
                    </a:p>
                  </a:txBody>
                  <a:tcPr anchor="ctr" marL="54864" marR="54864">
                    <a:solidFill>
                      <a:srgbClr val="F9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D1D1F"/>
                          </a:solidFill>
                          <a:latin typeface="Arial"/>
                          <a:ea typeface="微软雅黑"/>
                          <a:cs typeface="微软雅黑"/>
                        </a:rPr>
                        <a:t>达成率(%)</a:t>
                      </a:r>
                    </a:p>
                  </a:txBody>
                  <a:tcPr anchor="ctr" marL="54864" marR="54864">
                    <a:solidFill>
                      <a:srgbClr val="F9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D1D1F"/>
                          </a:solidFill>
                          <a:latin typeface="Arial"/>
                          <a:ea typeface="微软雅黑"/>
                          <a:cs typeface="微软雅黑"/>
                        </a:rPr>
                        <a:t>UPH(个/小时)</a:t>
                      </a:r>
                    </a:p>
                  </a:txBody>
                  <a:tcPr anchor="ctr" marL="54864" marR="54864">
                    <a:solidFill>
                      <a:srgbClr val="F9F9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CAW7203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AKC(CAW)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IDLE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18587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18440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63.6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1441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cxnSp>
        <p:nvCxnSpPr>
          <p:cNvPr id="13" name="Connector 12"/>
          <p:cNvCxnSpPr/>
          <p:nvPr/>
        </p:nvCxnSpPr>
        <p:spPr>
          <a:xfrm>
            <a:off x="484632" y="6400800"/>
            <a:ext cx="11219688" cy="0"/>
          </a:xfrm>
          <a:prstGeom prst="line">
            <a:avLst/>
          </a:prstGeom>
          <a:ln w="12700">
            <a:solidFill>
              <a:srgbClr val="E5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4632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6868B"/>
                </a:solidFill>
                <a:latin typeface="Arial"/>
                <a:ea typeface="微软雅黑"/>
                <a:cs typeface="微软雅黑"/>
              </a:rPr>
              <a:t>© 2026 Hon Hai Precision Industry Co.,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>
                <a:solidFill>
                  <a:srgbClr val="007AFF"/>
                </a:solidFill>
                <a:latin typeface="Arial"/>
                <a:ea typeface="微软雅黑"/>
                <a:cs typeface="微软雅黑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4632" y="329184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329184"/>
            <a:ext cx="1234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7AFF"/>
                </a:solidFill>
                <a:latin typeface="Arial"/>
                <a:ea typeface="微软雅黑"/>
                <a:cs typeface="微软雅黑"/>
              </a:rPr>
              <a:t>设备能效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37744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Arial"/>
                <a:ea typeface="微软雅黑"/>
                <a:cs typeface="微软雅黑"/>
              </a:rPr>
              <a:t>EFF 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38944" y="329184"/>
            <a:ext cx="1865376" cy="38404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38944" y="329184"/>
            <a:ext cx="18653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7AFF"/>
                </a:solidFill>
                <a:latin typeface="Arial"/>
                <a:ea typeface="微软雅黑"/>
                <a:cs typeface="微软雅黑"/>
              </a:rPr>
              <a:t>04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896112"/>
            <a:ext cx="112196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  <a:latin typeface="Arial"/>
                <a:ea typeface="微软雅黑"/>
                <a:cs typeface="微软雅黑"/>
              </a:rPr>
              <a:t>EFF = 操作时间(运行+待机) / 计划生产时间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4632" y="1389888"/>
            <a:ext cx="11219688" cy="0"/>
          </a:xfrm>
          <a:prstGeom prst="line">
            <a:avLst/>
          </a:prstGeom>
          <a:ln w="25400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" y="1572768"/>
            <a:ext cx="5943600" cy="4645152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 w="12700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2011680"/>
          <a:ext cx="51206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675120" y="1572768"/>
            <a:ext cx="5148072" cy="4645152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 w="12700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39712" y="1755648"/>
          <a:ext cx="4828031" cy="3858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0602"/>
                <a:gridCol w="155742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D1D1F"/>
                          </a:solidFill>
                          <a:latin typeface="Arial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anchor="ctr" marL="54864" marR="54864">
                    <a:solidFill>
                      <a:srgbClr val="F9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D1D1F"/>
                          </a:solidFill>
                          <a:latin typeface="Arial"/>
                          <a:ea typeface="微软雅黑"/>
                          <a:cs typeface="微软雅黑"/>
                        </a:rPr>
                        <a:t>数值</a:t>
                      </a:r>
                    </a:p>
                  </a:txBody>
                  <a:tcPr anchor="ctr" marL="54864" marR="54864">
                    <a:solidFill>
                      <a:srgbClr val="F9F9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总时间(秒)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24:00:00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计划生产时间(秒)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24:00:00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运行时间RUN(秒)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12:53:54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待机时间IDLE(秒)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2:10:27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停机时间DOWN(秒)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8:55:39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计划停机pDT(秒)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7:47:29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非计划停机uDT(秒)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1:08:10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可用性损失(秒)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8:55:39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操作时间(秒)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15:04:21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EFF(%)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62.8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3" name="Connector 12"/>
          <p:cNvCxnSpPr/>
          <p:nvPr/>
        </p:nvCxnSpPr>
        <p:spPr>
          <a:xfrm>
            <a:off x="484632" y="6400800"/>
            <a:ext cx="11219688" cy="0"/>
          </a:xfrm>
          <a:prstGeom prst="line">
            <a:avLst/>
          </a:prstGeom>
          <a:ln w="12700">
            <a:solidFill>
              <a:srgbClr val="E5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4632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6868B"/>
                </a:solidFill>
                <a:latin typeface="Arial"/>
                <a:ea typeface="微软雅黑"/>
                <a:cs typeface="微软雅黑"/>
              </a:rPr>
              <a:t>© 2026 Hon Hai Precision Industry Co.,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>
                <a:solidFill>
                  <a:srgbClr val="007AFF"/>
                </a:solidFill>
                <a:latin typeface="Arial"/>
                <a:ea typeface="微软雅黑"/>
                <a:cs typeface="微软雅黑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4632" y="329184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329184"/>
            <a:ext cx="1234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7AFF"/>
                </a:solidFill>
                <a:latin typeface="Arial"/>
                <a:ea typeface="微软雅黑"/>
                <a:cs typeface="微软雅黑"/>
              </a:rPr>
              <a:t>设备能效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37744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Arial"/>
                <a:ea typeface="微软雅黑"/>
                <a:cs typeface="微软雅黑"/>
              </a:rPr>
              <a:t>停机 Pareto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38944" y="329184"/>
            <a:ext cx="1865376" cy="38404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38944" y="329184"/>
            <a:ext cx="18653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7AFF"/>
                </a:solidFill>
                <a:latin typeface="Arial"/>
                <a:ea typeface="微软雅黑"/>
                <a:cs typeface="微软雅黑"/>
              </a:rPr>
              <a:t>05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896112"/>
            <a:ext cx="112196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  <a:latin typeface="Arial"/>
                <a:ea typeface="微软雅黑"/>
                <a:cs typeface="微软雅黑"/>
              </a:rPr>
              <a:t>停机主要集中在 常規清潔機台（12 次，占总停机 53.95%），建议优先排查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4632" y="1389888"/>
            <a:ext cx="11219688" cy="0"/>
          </a:xfrm>
          <a:prstGeom prst="line">
            <a:avLst/>
          </a:prstGeom>
          <a:ln w="25400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" y="1572768"/>
            <a:ext cx="11457432" cy="4645152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 w="12700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585" y="2275783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  <a:ea typeface="微软雅黑"/>
                <a:cs typeface="微软雅黑"/>
              </a:rPr>
              <a:t>停机时长（秒）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5" y="2717006"/>
            <a:ext cx="7924602" cy="325112"/>
          </a:xfrm>
          <a:prstGeom prst="roundRect">
            <a:avLst>
              <a:gd name="adj" fmla="val 18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4187" y="2760690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17,340s · 53.95%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141" y="2760690"/>
            <a:ext cx="759949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常規清潔機台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5" y="3193063"/>
            <a:ext cx="4894150" cy="325112"/>
          </a:xfrm>
          <a:prstGeom prst="roundRect">
            <a:avLst>
              <a:gd name="adj" fmla="val 18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4187" y="3236747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10,709s · 33.32%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141" y="3236747"/>
            <a:ext cx="456903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上治具清潔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5" y="3669120"/>
            <a:ext cx="1082206" cy="325112"/>
          </a:xfrm>
          <a:prstGeom prst="roundRect">
            <a:avLst>
              <a:gd name="adj" fmla="val 18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4187" y="3712804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2,368s · 7.37%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3708" y="3719918"/>
            <a:ext cx="797584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取料2_X1熟料真空檢測異常報警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5" y="4145176"/>
            <a:ext cx="361954" cy="325112"/>
          </a:xfrm>
          <a:prstGeom prst="roundRect">
            <a:avLst>
              <a:gd name="adj" fmla="val 18000"/>
            </a:avLst>
          </a:prstGeom>
          <a:solidFill>
            <a:srgbClr val="F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4187" y="4188860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792s · 2.46%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3456" y="4195975"/>
            <a:ext cx="88777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Alam[17,20]^Chassis右取料模組吸真空2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5" y="4621233"/>
            <a:ext cx="93231" cy="325112"/>
          </a:xfrm>
          <a:prstGeom prst="roundRect">
            <a:avLst>
              <a:gd name="adj" fmla="val 18000"/>
            </a:avLst>
          </a:prstGeom>
          <a:solidFill>
            <a:srgbClr val="F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34187" y="4664917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204s · 0.63%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32" y="4672032"/>
            <a:ext cx="9146423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Alam[16,23]^Chassis左取料模組吸真空連續三次失敗報警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585" y="5097290"/>
            <a:ext cx="47529" cy="325112"/>
          </a:xfrm>
          <a:prstGeom prst="roundRect">
            <a:avLst>
              <a:gd name="adj" fmla="val 18000"/>
            </a:avLst>
          </a:prstGeom>
          <a:solidFill>
            <a:srgbClr val="F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34187" y="5140974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104s · 0.32%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031" y="5148088"/>
            <a:ext cx="9192125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彈窗.生料倉底部有料感應異常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585" y="5573346"/>
            <a:ext cx="36561" cy="325112"/>
          </a:xfrm>
          <a:prstGeom prst="roundRect">
            <a:avLst>
              <a:gd name="adj" fmla="val 18000"/>
            </a:avLst>
          </a:prstGeom>
          <a:solidFill>
            <a:srgbClr val="F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4187" y="5617030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80s · 0.25%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63" y="5624145"/>
            <a:ext cx="9293896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Alam[16,17]^Chassis左取料模組吸真空1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84632" y="6400800"/>
            <a:ext cx="11219688" cy="0"/>
          </a:xfrm>
          <a:prstGeom prst="line">
            <a:avLst/>
          </a:prstGeom>
          <a:ln w="12700">
            <a:solidFill>
              <a:srgbClr val="E5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84632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6868B"/>
                </a:solidFill>
                <a:latin typeface="Arial"/>
                <a:ea typeface="微软雅黑"/>
                <a:cs typeface="微软雅黑"/>
              </a:rPr>
              <a:t>© 2026 Hon Hai Precision Industry Co., Ltd. All rights reserved.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>
                <a:solidFill>
                  <a:srgbClr val="007AFF"/>
                </a:solidFill>
                <a:latin typeface="Arial"/>
                <a:ea typeface="微软雅黑"/>
                <a:cs typeface="微软雅黑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4632" y="329184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329184"/>
            <a:ext cx="1234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7AFF"/>
                </a:solidFill>
                <a:latin typeface="Arial"/>
                <a:ea typeface="微软雅黑"/>
                <a:cs typeface="微软雅黑"/>
              </a:rPr>
              <a:t>设备能效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37744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Arial"/>
                <a:ea typeface="微软雅黑"/>
                <a:cs typeface="微软雅黑"/>
              </a:rPr>
              <a:t>报警分析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38944" y="329184"/>
            <a:ext cx="1865376" cy="38404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38944" y="329184"/>
            <a:ext cx="18653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7AFF"/>
                </a:solidFill>
                <a:latin typeface="Arial"/>
                <a:ea typeface="微软雅黑"/>
                <a:cs typeface="微软雅黑"/>
              </a:rPr>
              <a:t>06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896112"/>
            <a:ext cx="112196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  <a:latin typeface="Arial"/>
                <a:ea typeface="微软雅黑"/>
                <a:cs typeface="微软雅黑"/>
              </a:rPr>
              <a:t>按关键词与模块统计报警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4632" y="1389888"/>
            <a:ext cx="11219688" cy="0"/>
          </a:xfrm>
          <a:prstGeom prst="line">
            <a:avLst/>
          </a:prstGeom>
          <a:ln w="25400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" y="1572768"/>
            <a:ext cx="11457432" cy="4645152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 w="12700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585" y="2275783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  <a:ea typeface="微软雅黑"/>
                <a:cs typeface="微软雅黑"/>
              </a:rPr>
              <a:t>报警次数 Top10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5" y="2645598"/>
            <a:ext cx="7924602" cy="325112"/>
          </a:xfrm>
          <a:prstGeom prst="roundRect">
            <a:avLst>
              <a:gd name="adj" fmla="val 18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4187" y="2689282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141" y="2689282"/>
            <a:ext cx="759949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常規清潔機台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5" y="2978838"/>
            <a:ext cx="6603835" cy="325112"/>
          </a:xfrm>
          <a:prstGeom prst="roundRect">
            <a:avLst>
              <a:gd name="adj" fmla="val 18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4187" y="3022521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141" y="3022521"/>
            <a:ext cx="6278723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上治具清潔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5" y="3312077"/>
            <a:ext cx="5283068" cy="325112"/>
          </a:xfrm>
          <a:prstGeom prst="roundRect">
            <a:avLst>
              <a:gd name="adj" fmla="val 18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4187" y="3355761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141" y="3355761"/>
            <a:ext cx="495795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取料2_X1熟料真空檢測異常報警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5" y="3645317"/>
            <a:ext cx="5283068" cy="325112"/>
          </a:xfrm>
          <a:prstGeom prst="roundRect">
            <a:avLst>
              <a:gd name="adj" fmla="val 18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4187" y="3689001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141" y="3689001"/>
            <a:ext cx="495795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Alam[17,20]^Chassis右取料模組吸真空2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5" y="3978557"/>
            <a:ext cx="1981150" cy="325112"/>
          </a:xfrm>
          <a:prstGeom prst="roundRect">
            <a:avLst>
              <a:gd name="adj" fmla="val 18000"/>
            </a:avLst>
          </a:prstGeom>
          <a:solidFill>
            <a:srgbClr val="F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34187" y="4022240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2652" y="4029355"/>
            <a:ext cx="8331627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取料2.取緩存台不成功報警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585" y="4311796"/>
            <a:ext cx="1320767" cy="325112"/>
          </a:xfrm>
          <a:prstGeom prst="roundRect">
            <a:avLst>
              <a:gd name="adj" fmla="val 18000"/>
            </a:avLst>
          </a:prstGeom>
          <a:solidFill>
            <a:srgbClr val="F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34187" y="4355480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2269" y="4362595"/>
            <a:ext cx="899201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彈窗.生料倉底部有料感應異常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585" y="4645036"/>
            <a:ext cx="1320767" cy="325112"/>
          </a:xfrm>
          <a:prstGeom prst="roundRect">
            <a:avLst>
              <a:gd name="adj" fmla="val 18000"/>
            </a:avLst>
          </a:prstGeom>
          <a:solidFill>
            <a:srgbClr val="F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4187" y="4688720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2269" y="4695835"/>
            <a:ext cx="899201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Alam[17,17]^Chassis右取料模組吸真空1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585" y="4978276"/>
            <a:ext cx="660383" cy="325112"/>
          </a:xfrm>
          <a:prstGeom prst="roundRect">
            <a:avLst>
              <a:gd name="adj" fmla="val 18000"/>
            </a:avLst>
          </a:prstGeom>
          <a:solidFill>
            <a:srgbClr val="F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34187" y="5021959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91885" y="5029074"/>
            <a:ext cx="9652394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Alam[16,20]^Chassis左取料模組吸真空2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9585" y="5311515"/>
            <a:ext cx="660383" cy="325112"/>
          </a:xfrm>
          <a:prstGeom prst="roundRect">
            <a:avLst>
              <a:gd name="adj" fmla="val 18000"/>
            </a:avLst>
          </a:prstGeom>
          <a:solidFill>
            <a:srgbClr val="F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4187" y="5355199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91885" y="5362314"/>
            <a:ext cx="9652394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Alam[13,14]^滑台4左上治具吸真空連續抛料報警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5" y="5644755"/>
            <a:ext cx="660383" cy="325112"/>
          </a:xfrm>
          <a:prstGeom prst="roundRect">
            <a:avLst>
              <a:gd name="adj" fmla="val 18000"/>
            </a:avLst>
          </a:prstGeom>
          <a:solidFill>
            <a:srgbClr val="F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34187" y="5688439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91885" y="5695554"/>
            <a:ext cx="9652394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3A3C"/>
                </a:solidFill>
                <a:latin typeface="Arial"/>
                <a:ea typeface="微软雅黑"/>
                <a:cs typeface="微软雅黑"/>
              </a:rPr>
              <a:t>NG盤2_3穴位感應器異常報警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84632" y="6400800"/>
            <a:ext cx="11219688" cy="0"/>
          </a:xfrm>
          <a:prstGeom prst="line">
            <a:avLst/>
          </a:prstGeom>
          <a:ln w="12700">
            <a:solidFill>
              <a:srgbClr val="E5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84632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6868B"/>
                </a:solidFill>
                <a:latin typeface="Arial"/>
                <a:ea typeface="微软雅黑"/>
                <a:cs typeface="微软雅黑"/>
              </a:rPr>
              <a:t>© 2026 Hon Hai Precision Industry Co., Ltd. All rights reserved.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>
                <a:solidFill>
                  <a:srgbClr val="007AFF"/>
                </a:solidFill>
                <a:latin typeface="Arial"/>
                <a:ea typeface="微软雅黑"/>
                <a:cs typeface="微软雅黑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4632" y="329184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329184"/>
            <a:ext cx="1234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7AFF"/>
                </a:solidFill>
                <a:latin typeface="Arial"/>
                <a:ea typeface="微软雅黑"/>
                <a:cs typeface="微软雅黑"/>
              </a:rPr>
              <a:t>设备能效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37744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Arial"/>
                <a:ea typeface="微软雅黑"/>
                <a:cs typeface="微软雅黑"/>
              </a:rPr>
              <a:t>机台状态汇总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38944" y="329184"/>
            <a:ext cx="1865376" cy="38404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38944" y="329184"/>
            <a:ext cx="18653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7AFF"/>
                </a:solidFill>
                <a:latin typeface="Arial"/>
                <a:ea typeface="微软雅黑"/>
                <a:cs typeface="微软雅黑"/>
              </a:rPr>
              <a:t>07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896112"/>
            <a:ext cx="112196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  <a:latin typeface="Arial"/>
                <a:ea typeface="微软雅黑"/>
                <a:cs typeface="微软雅黑"/>
              </a:rPr>
              <a:t>正常运行占比 53.7%（行业基准 ≥75%）🔴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4632" y="1389888"/>
            <a:ext cx="11219688" cy="0"/>
          </a:xfrm>
          <a:prstGeom prst="line">
            <a:avLst/>
          </a:prstGeom>
          <a:ln w="25400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" y="1572768"/>
            <a:ext cx="5943600" cy="4645152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 w="12700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2011680"/>
          <a:ext cx="51206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675120" y="1572768"/>
            <a:ext cx="5148072" cy="4645152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 w="12700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39712" y="1755648"/>
          <a:ext cx="482803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4161"/>
                <a:gridCol w="866569"/>
                <a:gridCol w="1733139"/>
                <a:gridCol w="1114161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D1D1F"/>
                          </a:solidFill>
                          <a:latin typeface="Arial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anchor="ctr" marL="54864" marR="54864">
                    <a:solidFill>
                      <a:srgbClr val="F9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D1D1F"/>
                          </a:solidFill>
                          <a:latin typeface="Arial"/>
                          <a:ea typeface="微软雅黑"/>
                          <a:cs typeface="微软雅黑"/>
                        </a:rPr>
                        <a:t>次数</a:t>
                      </a:r>
                    </a:p>
                  </a:txBody>
                  <a:tcPr anchor="ctr" marL="54864" marR="54864">
                    <a:solidFill>
                      <a:srgbClr val="F9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D1D1F"/>
                          </a:solidFill>
                          <a:latin typeface="Arial"/>
                          <a:ea typeface="微软雅黑"/>
                          <a:cs typeface="微软雅黑"/>
                        </a:rPr>
                        <a:t>总时长(秒)</a:t>
                      </a:r>
                    </a:p>
                  </a:txBody>
                  <a:tcPr anchor="ctr" marL="54864" marR="54864">
                    <a:solidFill>
                      <a:srgbClr val="F9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D1D1F"/>
                          </a:solidFill>
                          <a:latin typeface="Arial"/>
                          <a:ea typeface="微软雅黑"/>
                          <a:cs typeface="微软雅黑"/>
                        </a:rPr>
                        <a:t>占比(%)</a:t>
                      </a:r>
                    </a:p>
                  </a:txBody>
                  <a:tcPr anchor="ctr" marL="54864" marR="54864">
                    <a:solidFill>
                      <a:srgbClr val="F9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RUN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302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12:53:54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53.74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DOWN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58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8:55:39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37.2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IDLE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56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2:10:27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A3C"/>
                          </a:solidFill>
                          <a:latin typeface="Arial"/>
                          <a:ea typeface="微软雅黑"/>
                          <a:cs typeface="微软雅黑"/>
                        </a:rPr>
                        <a:t>9.06</a:t>
                      </a:r>
                    </a:p>
                  </a:txBody>
                  <a:tcPr anchor="ctr" marL="54864" marR="54864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cxnSp>
        <p:nvCxnSpPr>
          <p:cNvPr id="13" name="Connector 12"/>
          <p:cNvCxnSpPr/>
          <p:nvPr/>
        </p:nvCxnSpPr>
        <p:spPr>
          <a:xfrm>
            <a:off x="484632" y="6400800"/>
            <a:ext cx="11219688" cy="0"/>
          </a:xfrm>
          <a:prstGeom prst="line">
            <a:avLst/>
          </a:prstGeom>
          <a:ln w="12700">
            <a:solidFill>
              <a:srgbClr val="E5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4632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6868B"/>
                </a:solidFill>
                <a:latin typeface="Arial"/>
                <a:ea typeface="微软雅黑"/>
                <a:cs typeface="微软雅黑"/>
              </a:rPr>
              <a:t>© 2026 Hon Hai Precision Industry Co.,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>
                <a:solidFill>
                  <a:srgbClr val="007AFF"/>
                </a:solidFill>
                <a:latin typeface="Arial"/>
                <a:ea typeface="微软雅黑"/>
                <a:cs typeface="微软雅黑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