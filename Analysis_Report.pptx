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2"/>
  </p:notesMasterIdLst>
  <p:sldIdLst>
    <p:sldId id="2147377286" r:id="rId5"/>
    <p:sldId id="2147377287" r:id="rId6"/>
    <p:sldId id="2147377288" r:id="rId7"/>
    <p:sldId id="2147377289" r:id="rId8"/>
    <p:sldId id="2147377290" r:id="rId9"/>
    <p:sldId id="2147377291" r:id="rId10"/>
    <p:sldId id="2147377292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8" y="357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300"/>
            </a:pPr>
            <a:r>
              <a:rPr lang="en-US"/>
              <a:t>UPH </a:t>
            </a:r>
            <a:r>
              <a:rPr lang="zh-TW" altLang="en-US"/>
              <a:t>对比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Pure UPH(个/小时)</c:v>
                </c:pt>
                <c:pt idx="1">
                  <c:v>Derated UPH M1(个/小时)</c:v>
                </c:pt>
                <c:pt idx="2">
                  <c:v>Derated UPH M2(个/小时)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2183.27</c:v>
                </c:pt>
                <c:pt idx="1">
                  <c:v>1506.04</c:v>
                </c:pt>
                <c:pt idx="2">
                  <c:v>1199.8499999999999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1B-4AD5-9A34-032E28A8E7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title>
      <c:tx>
        <c:rich>
          <a:bodyPr/>
          <a:lstStyle/>
          <a:p>
            <a:pPr>
              <a:defRPr sz="1300"/>
            </a:pPr>
            <a:r>
              <a:rPr lang="zh-CN" altLang="en-US"/>
              <a:t>时间构成（秒）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explosion val="3"/>
          <c:dPt>
            <c:idx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1-8191-4C3B-AA23-67F73DFA78A9}"/>
              </c:ext>
            </c:extLst>
          </c:dPt>
          <c:dPt>
            <c:idx val="1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8191-4C3B-AA23-67F73DFA78A9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2-8191-4C3B-AA23-67F73DFA78A9}"/>
              </c:ext>
            </c:extLst>
          </c:dPt>
          <c:dLbls>
            <c:dLbl>
              <c:idx val="0"/>
              <c:layout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166666666666668"/>
                      <c:h val="6.210691823899371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191-4C3B-AA23-67F73DFA78A9}"/>
                </c:ext>
              </c:extLst>
            </c:dLbl>
            <c:dLbl>
              <c:idx val="1"/>
              <c:layout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166666666666668"/>
                      <c:h val="6.210691823899371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191-4C3B-AA23-67F73DFA78A9}"/>
                </c:ext>
              </c:extLst>
            </c:dLbl>
            <c:dLbl>
              <c:idx val="2"/>
              <c:layout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4953703703703702"/>
                      <c:h val="6.210691823899371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8191-4C3B-AA23-67F73DFA78A9}"/>
                </c:ext>
              </c:extLst>
            </c:dLbl>
            <c:spPr>
              <a:solidFill>
                <a:srgbClr val="FFFFFF"/>
              </a:solidFill>
              <a:ln>
                <a:solidFill>
                  <a:srgbClr val="000000">
                    <a:lumMod val="65000"/>
                    <a:lumOff val="35000"/>
                  </a:srgbClr>
                </a:solidFill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</c:ext>
            </c:extLst>
          </c:dLbls>
          <c:cat>
            <c:strRef>
              <c:f>Sheet1!$A$2:$A$4</c:f>
              <c:strCache>
                <c:ptCount val="3"/>
                <c:pt idx="0">
                  <c:v>运行RUN</c:v>
                </c:pt>
                <c:pt idx="1">
                  <c:v>待机IDLE</c:v>
                </c:pt>
                <c:pt idx="2">
                  <c:v>停机DOWN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68821.251000000004</c:v>
                </c:pt>
                <c:pt idx="1">
                  <c:v>16823.550999999999</c:v>
                </c:pt>
                <c:pt idx="2">
                  <c:v>692.221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91-4C3B-AA23-67F73DFA78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78516612980195655"/>
          <c:y val="0.7916093035540368"/>
          <c:w val="0.21272949309366637"/>
          <c:h val="0.2076033464566929"/>
        </c:manualLayout>
      </c:layout>
      <c:overlay val="1"/>
      <c:txPr>
        <a:bodyPr/>
        <a:lstStyle/>
        <a:p>
          <a:pPr>
            <a:defRPr sz="1400"/>
          </a:pPr>
          <a:endParaRPr lang="zh-TW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300"/>
            </a:pPr>
            <a:r>
              <a:rPr lang="zh-CN" altLang="en-US"/>
              <a:t>停机时长（秒）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numRef>
              <c:f>Sheet1!$A$2:$A$3</c:f>
              <c:numCache>
                <c:formatCode>General</c:formatCode>
                <c:ptCount val="2"/>
                <c:pt idx="0">
                  <c:v>411</c:v>
                </c:pt>
                <c:pt idx="1">
                  <c:v>412</c:v>
                </c:pt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683.31200000000001</c:v>
                </c:pt>
                <c:pt idx="1">
                  <c:v>8.9090000000000007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8B-4931-BD02-499005650F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300"/>
            </a:pPr>
            <a:r>
              <a:rPr lang="zh-TW" altLang="en-US"/>
              <a:t>报警次数 </a:t>
            </a:r>
            <a:r>
              <a:rPr lang="en-US"/>
              <a:t>Top10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停止信号</c:v>
                </c:pt>
                <c:pt idx="1">
                  <c:v>失败</c:v>
                </c:pt>
                <c:pt idx="2">
                  <c:v>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</c:v>
                </c:pt>
                <c:pt idx="1">
                  <c:v>296</c:v>
                </c:pt>
                <c:pt idx="2">
                  <c:v>295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5B-4A44-9A61-C9E911764D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title>
      <c:tx>
        <c:rich>
          <a:bodyPr/>
          <a:lstStyle/>
          <a:p>
            <a:pPr>
              <a:defRPr sz="1300"/>
            </a:pPr>
            <a:r>
              <a:rPr lang="zh-CN" altLang="en-US"/>
              <a:t>状态时长（秒）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dPt>
            <c:idx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1-971A-4330-A7D8-2B342ACFCCD0}"/>
              </c:ext>
            </c:extLst>
          </c:dPt>
          <c:dPt>
            <c:idx val="1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971A-4330-A7D8-2B342ACFCCD0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2-971A-4330-A7D8-2B342ACFCCD0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Sheet1!$A$2:$A$4</c:f>
              <c:strCache>
                <c:ptCount val="3"/>
                <c:pt idx="0">
                  <c:v>RUN</c:v>
                </c:pt>
                <c:pt idx="1">
                  <c:v>IDLE</c:v>
                </c:pt>
                <c:pt idx="2">
                  <c:v>DOWN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68821.251000000004</c:v>
                </c:pt>
                <c:pt idx="1">
                  <c:v>16823.550999999999</c:v>
                </c:pt>
                <c:pt idx="2">
                  <c:v>692.221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71A-4330-A7D8-2B342ACFCC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81883616347199029"/>
          <c:y val="0.78279010195840892"/>
          <c:w val="0.17064195100612423"/>
          <c:h val="0.2076033464566929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300"/>
            </a:pPr>
            <a:r>
              <a:rPr lang="zh-TW" altLang="en-US"/>
              <a:t>每小时 </a:t>
            </a:r>
            <a:r>
              <a:rPr lang="en-US"/>
              <a:t>EFF(%)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cat>
            <c:strRef>
              <c:f>Sheet1!$A$2:$A$25</c:f>
              <c:strCache>
                <c:ptCount val="24"/>
                <c:pt idx="0">
                  <c:v>2026-07-28 00:00</c:v>
                </c:pt>
                <c:pt idx="1">
                  <c:v>2026-07-28 01:00</c:v>
                </c:pt>
                <c:pt idx="2">
                  <c:v>2026-07-28 02:00</c:v>
                </c:pt>
                <c:pt idx="3">
                  <c:v>2026-07-28 03:00</c:v>
                </c:pt>
                <c:pt idx="4">
                  <c:v>2026-07-28 04:00</c:v>
                </c:pt>
                <c:pt idx="5">
                  <c:v>2026-07-28 05:00</c:v>
                </c:pt>
                <c:pt idx="6">
                  <c:v>2026-07-28 06:00</c:v>
                </c:pt>
                <c:pt idx="7">
                  <c:v>2026-07-28 07:00</c:v>
                </c:pt>
                <c:pt idx="8">
                  <c:v>2026-07-28 08:00</c:v>
                </c:pt>
                <c:pt idx="9">
                  <c:v>2026-07-28 09:00</c:v>
                </c:pt>
                <c:pt idx="10">
                  <c:v>2026-07-28 10:00</c:v>
                </c:pt>
                <c:pt idx="11">
                  <c:v>2026-07-28 11:00</c:v>
                </c:pt>
                <c:pt idx="12">
                  <c:v>2026-07-28 12:00</c:v>
                </c:pt>
                <c:pt idx="13">
                  <c:v>2026-07-28 13:00</c:v>
                </c:pt>
                <c:pt idx="14">
                  <c:v>2026-07-28 14:00</c:v>
                </c:pt>
                <c:pt idx="15">
                  <c:v>2026-07-28 15:00</c:v>
                </c:pt>
                <c:pt idx="16">
                  <c:v>2026-07-28 16:00</c:v>
                </c:pt>
                <c:pt idx="17">
                  <c:v>2026-07-28 17:00</c:v>
                </c:pt>
                <c:pt idx="18">
                  <c:v>2026-07-28 18:00</c:v>
                </c:pt>
                <c:pt idx="19">
                  <c:v>2026-07-28 19:00</c:v>
                </c:pt>
                <c:pt idx="20">
                  <c:v>2026-07-28 20:00</c:v>
                </c:pt>
                <c:pt idx="21">
                  <c:v>2026-07-28 21:00</c:v>
                </c:pt>
                <c:pt idx="22">
                  <c:v>2026-07-28 22:00</c:v>
                </c:pt>
                <c:pt idx="23">
                  <c:v>2026-07-28 23:00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99.79</c:v>
                </c:pt>
                <c:pt idx="1">
                  <c:v>99.74</c:v>
                </c:pt>
                <c:pt idx="2">
                  <c:v>99.85</c:v>
                </c:pt>
                <c:pt idx="3">
                  <c:v>99.62</c:v>
                </c:pt>
                <c:pt idx="4">
                  <c:v>99.72</c:v>
                </c:pt>
                <c:pt idx="5">
                  <c:v>99.46</c:v>
                </c:pt>
                <c:pt idx="6">
                  <c:v>99.81</c:v>
                </c:pt>
                <c:pt idx="7">
                  <c:v>99.04</c:v>
                </c:pt>
                <c:pt idx="8">
                  <c:v>99.11</c:v>
                </c:pt>
                <c:pt idx="9">
                  <c:v>98.52</c:v>
                </c:pt>
                <c:pt idx="10">
                  <c:v>97.61</c:v>
                </c:pt>
                <c:pt idx="11">
                  <c:v>97.41</c:v>
                </c:pt>
                <c:pt idx="12">
                  <c:v>97.72</c:v>
                </c:pt>
                <c:pt idx="13">
                  <c:v>99.42</c:v>
                </c:pt>
                <c:pt idx="14">
                  <c:v>99.36</c:v>
                </c:pt>
                <c:pt idx="15">
                  <c:v>99.64</c:v>
                </c:pt>
                <c:pt idx="16">
                  <c:v>99.02</c:v>
                </c:pt>
                <c:pt idx="17">
                  <c:v>98.54</c:v>
                </c:pt>
                <c:pt idx="18">
                  <c:v>98.9</c:v>
                </c:pt>
                <c:pt idx="19">
                  <c:v>99.75</c:v>
                </c:pt>
                <c:pt idx="20">
                  <c:v>99.34</c:v>
                </c:pt>
                <c:pt idx="21">
                  <c:v>99.82</c:v>
                </c:pt>
                <c:pt idx="22">
                  <c:v>99.62</c:v>
                </c:pt>
                <c:pt idx="23">
                  <c:v>99.79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6D7-4A3D-9C51-6BD1E93DBF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96126" indent="-296126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kumimoji="1" lang="zh-TW" altLang="en-US" b="1" spc="104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0CC0CC-13C6-4CBF-B31C-E993F1DC339E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3761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6">
            <a:extLst>
              <a:ext uri="{FF2B5EF4-FFF2-40B4-BE49-F238E27FC236}">
                <a16:creationId xmlns:a16="http://schemas.microsoft.com/office/drawing/2014/main" id="{286EAC1A-421E-A5ED-4030-11330F63A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>
                <a:solidFill>
                  <a:srgbClr val="083C63"/>
                </a:solidFill>
              </a:rPr>
              <a:pPr marL="50799">
                <a:spcBef>
                  <a:spcPts val="133"/>
                </a:spcBef>
              </a:pPr>
              <a:t>1</a:t>
            </a:fld>
            <a:r>
              <a:rPr lang="en-US" altLang="zh-TW">
                <a:solidFill>
                  <a:srgbClr val="083C63"/>
                </a:solidFill>
              </a:rPr>
              <a:t> /</a:t>
            </a:r>
          </a:p>
        </p:txBody>
      </p:sp>
      <p:sp>
        <p:nvSpPr>
          <p:cNvPr id="5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  <p:sp>
        <p:nvSpPr>
          <p:cNvPr id="13" name="object 5">
            <a:extLst>
              <a:ext uri="{FF2B5EF4-FFF2-40B4-BE49-F238E27FC236}">
                <a16:creationId xmlns:a16="http://schemas.microsoft.com/office/drawing/2014/main" id="{A596B733-61CF-E7EF-8094-6B58843C81C8}"/>
              </a:ext>
            </a:extLst>
          </p:cNvPr>
          <p:cNvSpPr txBox="1"/>
          <p:nvPr/>
        </p:nvSpPr>
        <p:spPr>
          <a:xfrm>
            <a:off x="809108" y="2301123"/>
            <a:ext cx="11282855" cy="1674817"/>
          </a:xfrm>
          <a:prstGeom prst="rect">
            <a:avLst/>
          </a:prstGeom>
          <a:ln w="12700">
            <a:miter lim="400000"/>
          </a:ln>
          <a:effectLst>
            <a:outerShdw blurRad="127000" dist="127000" dir="5400000" sx="112000" sy="112000" algn="t" rotWithShape="0">
              <a:prstClr val="black"/>
            </a:outerShdw>
          </a:effectLst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>
            <a:lvl1pPr indent="17445" algn="ctr">
              <a:spcBef>
                <a:spcPts val="100"/>
              </a:spcBef>
              <a:defRPr sz="6000" b="1" spc="782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 lvl="0" algn="l">
              <a:defRPr/>
            </a:pPr>
            <a:r>
              <a:rPr kumimoji="1" lang="en-US" altLang="zh-CN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LM</a:t>
            </a:r>
            <a:r>
              <a:rPr kumimoji="1" lang="zh-CN" altLang="en-US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設備一鍵自動分析報告</a:t>
            </a:r>
            <a:endParaRPr kumimoji="1" lang="en-US" altLang="zh-CN" sz="5400" spc="0" dirty="0" smtClean="0">
              <a:ln w="12700">
                <a:noFill/>
              </a:ln>
              <a:solidFill>
                <a:srgbClr val="EF5149"/>
              </a:solidFill>
              <a:latin typeface="+mj-lt"/>
              <a:ea typeface="Microsoft YaHei" panose="020B0503020204020204" pitchFamily="34" charset="-122"/>
            </a:endParaRPr>
          </a:p>
          <a:p>
            <a:pPr lvl="0" algn="l">
              <a:defRPr/>
            </a:pPr>
            <a:r>
              <a:rPr kumimoji="1" lang="en-US" altLang="zh-CN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——UPH</a:t>
            </a:r>
            <a:r>
              <a:rPr kumimoji="1" lang="zh-CN" altLang="en-US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、</a:t>
            </a:r>
            <a:r>
              <a:rPr kumimoji="1" lang="en-US" altLang="zh-CN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EFF</a:t>
            </a:r>
            <a:r>
              <a:rPr kumimoji="1" lang="zh-CN" altLang="en-US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、</a:t>
            </a:r>
            <a:r>
              <a:rPr kumimoji="1" lang="en-US" altLang="zh-CN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Alarm</a:t>
            </a:r>
            <a:endParaRPr kumimoji="1" lang="zh-TW" altLang="en-US" sz="5400" spc="0" dirty="0">
              <a:ln w="12700">
                <a:noFill/>
              </a:ln>
              <a:solidFill>
                <a:srgbClr val="EF5149"/>
              </a:solidFill>
              <a:latin typeface="+mj-lt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2219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UPH 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6060"/>
                </a:solidFill>
              </a:defRPr>
            </a:pPr>
            <a:r>
              <a:t>CoreTech AME：Pure UPH / Derated UPH M1 / M2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60350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463040"/>
          <a:ext cx="48463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3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3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数值</a:t>
                      </a:r>
                    </a:p>
                  </a:txBody>
                  <a:tcPr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Pure UPH(个/小时)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2183.27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Derated UPH M1(个/小时)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1506.04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Derated UPH M2(个/小时)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1199.85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EM投入数(个)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28791.0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EM良品数(个)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28791.0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运行时间RUN(秒)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68821.251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周期总数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28795.0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统计时长(秒)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86396.148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平均正常周期(秒)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1.649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理想周期CT(秒)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最大理论周期CT(秒)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 smtClean="0">
                <a:solidFill>
                  <a:srgbClr val="083C63"/>
                </a:solidFill>
              </a:rPr>
              <a:t>2</a:t>
            </a:r>
            <a:r>
              <a:rPr lang="en-US" altLang="zh-TW" dirty="0">
                <a:solidFill>
                  <a:srgbClr val="083C63"/>
                </a:solidFill>
              </a:rPr>
              <a:t>/</a:t>
            </a:r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 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6060"/>
                </a:solidFill>
              </a:defRPr>
            </a:pPr>
            <a:r>
              <a:t>EFF = 操作时间(运行+待机) / 计划生产时间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014348"/>
              </p:ext>
            </p:extLst>
          </p:nvPr>
        </p:nvGraphicFramePr>
        <p:xfrm>
          <a:off x="548640" y="1371600"/>
          <a:ext cx="60350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108743"/>
              </p:ext>
            </p:extLst>
          </p:nvPr>
        </p:nvGraphicFramePr>
        <p:xfrm>
          <a:off x="6766560" y="1463040"/>
          <a:ext cx="4846319" cy="309067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168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7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指标</a:t>
                      </a:r>
                      <a:endParaRPr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数值</a:t>
                      </a:r>
                      <a:endParaRPr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总时间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86337.023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计划生产时间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86337.023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运行时间RUN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68821.251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>
                          <a:solidFill>
                            <a:sysClr val="windowText" lastClr="000000"/>
                          </a:solidFill>
                        </a:rPr>
                        <a:t>待机时间IDLE(秒)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16823.551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停机时间DOWN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692.221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计划停机pDT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0.0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非计划停机uDT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692.221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可用性损失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692.221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</a:rPr>
                        <a:t>操作时间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85644.802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EFF(%)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</a:rPr>
                        <a:t>99.2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>
                <a:solidFill>
                  <a:srgbClr val="083C63"/>
                </a:solidFill>
              </a:rPr>
              <a:t>3</a:t>
            </a:r>
            <a:r>
              <a:rPr lang="en-US" altLang="zh-TW" dirty="0" smtClean="0">
                <a:solidFill>
                  <a:srgbClr val="083C63"/>
                </a:solidFill>
              </a:rPr>
              <a:t>/</a:t>
            </a:r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停机 Pareto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6060"/>
                </a:solidFill>
              </a:defRPr>
            </a:pPr>
            <a:r>
              <a:t>按 ReasonID 统计停机时长 Top10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60350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265414"/>
              </p:ext>
            </p:extLst>
          </p:nvPr>
        </p:nvGraphicFramePr>
        <p:xfrm>
          <a:off x="6766560" y="1463040"/>
          <a:ext cx="4846317" cy="8961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92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7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ReasonID</a:t>
                      </a:r>
                      <a:endParaRPr sz="14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次数</a:t>
                      </a:r>
                      <a:endParaRPr sz="14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总时长</a:t>
                      </a:r>
                      <a:r>
                        <a:rPr sz="1400" dirty="0"/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占比</a:t>
                      </a:r>
                      <a:r>
                        <a:rPr sz="1400" dirty="0"/>
                        <a:t>(%)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411.0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90.0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683.312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98.71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412.0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1.0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8.909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1.29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>
                <a:solidFill>
                  <a:srgbClr val="083C63"/>
                </a:solidFill>
              </a:rPr>
              <a:t>4</a:t>
            </a:r>
            <a:r>
              <a:rPr lang="en-US" altLang="zh-TW" dirty="0" smtClean="0">
                <a:solidFill>
                  <a:srgbClr val="083C63"/>
                </a:solidFill>
              </a:rPr>
              <a:t>/</a:t>
            </a:r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报警分析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6060"/>
                </a:solidFill>
              </a:defRPr>
            </a:pPr>
            <a:r>
              <a:t>按关键词与模块统计报警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60350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630837"/>
              </p:ext>
            </p:extLst>
          </p:nvPr>
        </p:nvGraphicFramePr>
        <p:xfrm>
          <a:off x="6766560" y="1463040"/>
          <a:ext cx="4846319" cy="117043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9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3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命中关键词</a:t>
                      </a:r>
                      <a:endParaRPr sz="14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报警次数</a:t>
                      </a:r>
                      <a:endParaRPr sz="14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 err="1"/>
                        <a:t>停止信号</a:t>
                      </a:r>
                      <a:endParaRPr sz="12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74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失败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296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295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>
                <a:solidFill>
                  <a:srgbClr val="083C63"/>
                </a:solidFill>
              </a:rPr>
              <a:t>5</a:t>
            </a:r>
            <a:r>
              <a:rPr lang="en-US" altLang="zh-TW" dirty="0" smtClean="0">
                <a:solidFill>
                  <a:srgbClr val="083C63"/>
                </a:solidFill>
              </a:rPr>
              <a:t>/</a:t>
            </a:r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机台状态汇总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6060"/>
                </a:solidFill>
              </a:defRPr>
            </a:pPr>
            <a:r>
              <a:t>RUN / IDLE / DOWN / WARN 时长与占比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603117"/>
              </p:ext>
            </p:extLst>
          </p:nvPr>
        </p:nvGraphicFramePr>
        <p:xfrm>
          <a:off x="548640" y="1463040"/>
          <a:ext cx="60350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2379830"/>
              </p:ext>
            </p:extLst>
          </p:nvPr>
        </p:nvGraphicFramePr>
        <p:xfrm>
          <a:off x="6766560" y="1463040"/>
          <a:ext cx="4846318" cy="117043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4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64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状态</a:t>
                      </a:r>
                      <a:endParaRPr sz="14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次数</a:t>
                      </a:r>
                      <a:endParaRPr sz="14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总时长</a:t>
                      </a:r>
                      <a:r>
                        <a:rPr sz="1400" dirty="0"/>
                        <a:t>(秒)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400" dirty="0" err="1"/>
                        <a:t>占比</a:t>
                      </a:r>
                      <a:r>
                        <a:rPr sz="1400" dirty="0"/>
                        <a:t>(%)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RUN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1471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68821.251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79.71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IDLE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1451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16823.551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19.49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DOWN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/>
                        <a:t>91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692.221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rPr sz="1200" dirty="0"/>
                        <a:t>0.8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>
                <a:solidFill>
                  <a:srgbClr val="083C63"/>
                </a:solidFill>
              </a:rPr>
              <a:t>6</a:t>
            </a:r>
            <a:r>
              <a:rPr lang="en-US" altLang="zh-TW" dirty="0" smtClean="0">
                <a:solidFill>
                  <a:srgbClr val="083C63"/>
                </a:solidFill>
              </a:rPr>
              <a:t>/</a:t>
            </a:r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机台状态趋势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6060"/>
                </a:solidFill>
              </a:defRPr>
            </a:pPr>
            <a:r>
              <a:t>每小时 EFF 趋势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799673"/>
              </p:ext>
            </p:extLst>
          </p:nvPr>
        </p:nvGraphicFramePr>
        <p:xfrm>
          <a:off x="548640" y="1463040"/>
          <a:ext cx="110642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>
                <a:solidFill>
                  <a:srgbClr val="083C63"/>
                </a:solidFill>
              </a:rPr>
              <a:t>7</a:t>
            </a:r>
            <a:r>
              <a:rPr lang="en-US" altLang="zh-TW" dirty="0" smtClean="0">
                <a:solidFill>
                  <a:srgbClr val="083C63"/>
                </a:solidFill>
              </a:rPr>
              <a:t>/</a:t>
            </a:r>
            <a:r>
              <a:rPr lang="en-US" altLang="zh-TW" dirty="0" smtClean="0">
                <a:solidFill>
                  <a:srgbClr val="083C63"/>
                </a:solidFill>
              </a:rPr>
              <a:t>7</a:t>
            </a:r>
            <a:endParaRPr lang="zh-TW" altLang="en-US" dirty="0">
              <a:solidFill>
                <a:srgbClr val="083C63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219</TotalTime>
  <Words>271</Words>
  <Application>Microsoft Office PowerPoint</Application>
  <PresentationFormat>寬螢幕</PresentationFormat>
  <Paragraphs>112</Paragraphs>
  <Slides>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6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UPH 分析</vt:lpstr>
      <vt:lpstr>EFF 分析</vt:lpstr>
      <vt:lpstr>停机 Pareto</vt:lpstr>
      <vt:lpstr>报警分析</vt:lpstr>
      <vt:lpstr>机台状态汇总</vt:lpstr>
      <vt:lpstr>机台状态趋势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11</cp:revision>
  <dcterms:created xsi:type="dcterms:W3CDTF">2026-03-28T02:35:04Z</dcterms:created>
  <dcterms:modified xsi:type="dcterms:W3CDTF">2026-08-05T09:02:47Z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