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数值</c:v>
                </c:pt>
              </c:strCache>
            </c:strRef>
          </c:tx>
          <c:dPt>
            <c:idx val="0"/>
            <c:spPr>
              <a:solidFill>
                <a:srgbClr val="F5B64C"/>
              </a:solidFill>
            </c:spPr>
          </c:dPt>
          <c:dPt>
            <c:idx val="1"/>
            <c:spPr>
              <a:solidFill>
                <a:srgbClr val="1E6FA8"/>
              </a:solidFill>
            </c:spPr>
          </c:dPt>
          <c:dPt>
            <c:idx val="2"/>
            <c:spPr>
              <a:solidFill>
                <a:srgbClr val="16324F"/>
              </a:solidFill>
            </c:spPr>
          </c:dPt>
          <c:cat>
            <c:strRef>
              <c:f>Sheet1!$A$2:$A$4</c:f>
              <c:strCache>
                <c:ptCount val="3"/>
                <c:pt idx="0">
                  <c:v>Pure UPH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2183.27</c:v>
                </c:pt>
                <c:pt idx="1">
                  <c:v>1506.04</c:v>
                </c:pt>
                <c:pt idx="2">
                  <c:v>1199.85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E7F1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25344F"/>
            </a:solidFill>
          </a:ln>
        </c:spPr>
        <c:txPr>
          <a:bodyPr/>
          <a:lstStyle/>
          <a:p>
            <a:pPr>
              <a:defRPr sz="1300">
                <a:solidFill>
                  <a:srgbClr val="8FA3C4"/>
                </a:solidFill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2600.0"/>
          <c:min val="0.0"/>
        </c:scaling>
        <c:delete val="0"/>
        <c:axPos val="l"/>
        <c:majorGridlines>
          <c:spPr>
            <a:ln w="9525">
              <a:solidFill>
                <a:srgbClr val="25344F"/>
              </a:solidFill>
            </a:ln>
          </c:spPr>
        </c:majorGridlines>
        <c:majorTickMark val="out"/>
        <c:minorTickMark val="none"/>
        <c:tickLblPos val="none"/>
        <c:spPr>
          <a:ln w="9525">
            <a:solidFill>
              <a:srgbClr val="25344F"/>
            </a:solidFill>
          </a:ln>
        </c:spPr>
        <c:txPr>
          <a:bodyPr/>
          <a:lstStyle/>
          <a:p>
            <a:pPr>
              <a:defRPr sz="1300">
                <a:solidFill>
                  <a:srgbClr val="8FA3C4"/>
                </a:solidFill>
              </a:defRPr>
            </a:pPr>
          </a:p>
        </c:txPr>
        <c:crossAx val="2068027336"/>
        <c:crosses val="autoZero"/>
      </c:valAx>
      <c:spPr>
        <a:solidFill>
          <a:srgbClr val="131E33"/>
        </a:solidFill>
      </c:spPr>
    </c:plotArea>
    <c:dispBlanksAs val="gap"/>
  </c:chart>
  <c:spPr>
    <a:solidFill>
      <a:srgbClr val="131E33"/>
    </a:solidFill>
  </c:spPr>
  <c:txPr>
    <a:bodyPr/>
    <a:lstStyle/>
    <a:p>
      <a:pPr>
        <a:defRPr sz="1300">
          <a:solidFill>
            <a:srgbClr val="8FA3C4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数值</c:v>
                </c:pt>
              </c:strCache>
            </c:strRef>
          </c:tx>
          <c:dPt>
            <c:idx val="0"/>
            <c:spPr>
              <a:solidFill>
                <a:srgbClr val="35C6F4"/>
              </a:solidFill>
            </c:spPr>
          </c:dPt>
          <c:dPt>
            <c:idx val="1"/>
            <c:spPr>
              <a:solidFill>
                <a:srgbClr val="1E6FA8"/>
              </a:solidFill>
            </c:spPr>
          </c:dPt>
          <c:dPt>
            <c:idx val="2"/>
            <c:spPr>
              <a:solidFill>
                <a:srgbClr val="F5B64C"/>
              </a:solidFill>
            </c:spPr>
          </c:dPt>
          <c:cat>
            <c:strRef>
              <c:f>Sheet1!$A$2:$A$4</c:f>
              <c:strCache>
                <c:ptCount val="3"/>
                <c:pt idx="0">
                  <c:v>运行RUN</c:v>
                </c:pt>
                <c:pt idx="1">
                  <c:v>待机IDLE</c:v>
                </c:pt>
                <c:pt idx="2">
                  <c:v>停机DOWN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68821.251</c:v>
                </c:pt>
                <c:pt idx="1">
                  <c:v>16823.551</c:v>
                </c:pt>
                <c:pt idx="2">
                  <c:v>692.221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 b="1">
                  <a:solidFill>
                    <a:srgbClr val="C6D3E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  <c:spPr>
        <a:solidFill>
          <a:srgbClr val="131E33"/>
        </a:solidFill>
      </c:spPr>
    </c:plotArea>
    <c:legend>
      <c:legendPos/>
      <c:overlay val="0"/>
      <c:txPr>
        <a:bodyPr/>
        <a:lstStyle/>
        <a:p>
          <a:pPr>
            <a:defRPr sz="1300">
              <a:solidFill>
                <a:srgbClr val="8FA3C4"/>
              </a:solidFill>
            </a:defRPr>
          </a:pPr>
        </a:p>
      </c:txPr>
    </c:legend>
    <c:dispBlanksAs val="gap"/>
  </c:chart>
  <c:spPr>
    <a:solidFill>
      <a:srgbClr val="131E33"/>
    </a:solidFill>
  </c:spPr>
  <c:txPr>
    <a:bodyPr/>
    <a:lstStyle/>
    <a:p>
      <a:pPr>
        <a:defRPr sz="1300">
          <a:solidFill>
            <a:srgbClr val="8FA3C4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数值</c:v>
                </c:pt>
              </c:strCache>
            </c:strRef>
          </c:tx>
          <c:dPt>
            <c:idx val="0"/>
            <c:spPr>
              <a:solidFill>
                <a:srgbClr val="F5B64C"/>
              </a:solidFill>
            </c:spPr>
          </c:dPt>
          <c:dPt>
            <c:idx val="1"/>
            <c:spPr>
              <a:solidFill>
                <a:srgbClr val="1E6FA8"/>
              </a:solidFill>
            </c:spPr>
          </c:dPt>
          <c:cat>
            <c:strRef>
              <c:f>Sheet1!$A$2:$A$3</c:f>
              <c:strCache>
                <c:ptCount val="2"/>
                <c:pt idx="0">
                  <c:v>411.0</c:v>
                </c:pt>
                <c:pt idx="1">
                  <c:v>412.0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683.312</c:v>
                </c:pt>
                <c:pt idx="1">
                  <c:v>8.909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E7F1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25344F"/>
            </a:solidFill>
          </a:ln>
        </c:spPr>
        <c:txPr>
          <a:bodyPr/>
          <a:lstStyle/>
          <a:p>
            <a:pPr>
              <a:defRPr sz="1300">
                <a:solidFill>
                  <a:srgbClr val="8FA3C4"/>
                </a:solidFill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9525">
              <a:solidFill>
                <a:srgbClr val="25344F"/>
              </a:solidFill>
            </a:ln>
          </c:spPr>
        </c:majorGridlines>
        <c:majorTickMark val="out"/>
        <c:minorTickMark val="none"/>
        <c:tickLblPos val="none"/>
        <c:spPr>
          <a:ln w="9525">
            <a:solidFill>
              <a:srgbClr val="25344F"/>
            </a:solidFill>
          </a:ln>
        </c:spPr>
        <c:txPr>
          <a:bodyPr/>
          <a:lstStyle/>
          <a:p>
            <a:pPr>
              <a:defRPr sz="1300">
                <a:solidFill>
                  <a:srgbClr val="8FA3C4"/>
                </a:solidFill>
              </a:defRPr>
            </a:pPr>
          </a:p>
        </c:txPr>
        <c:crossAx val="2068027336"/>
        <c:crosses val="autoZero"/>
      </c:valAx>
      <c:spPr>
        <a:solidFill>
          <a:srgbClr val="131E33"/>
        </a:solidFill>
      </c:spPr>
    </c:plotArea>
    <c:dispBlanksAs val="gap"/>
  </c:chart>
  <c:spPr>
    <a:solidFill>
      <a:srgbClr val="131E33"/>
    </a:solidFill>
  </c:spPr>
  <c:txPr>
    <a:bodyPr/>
    <a:lstStyle/>
    <a:p>
      <a:pPr>
        <a:defRPr sz="1300">
          <a:solidFill>
            <a:srgbClr val="8FA3C4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数值</c:v>
                </c:pt>
              </c:strCache>
            </c:strRef>
          </c:tx>
          <c:dPt>
            <c:idx val="0"/>
            <c:spPr>
              <a:solidFill>
                <a:srgbClr val="35C6F4"/>
              </a:solidFill>
            </c:spPr>
          </c:dPt>
          <c:dPt>
            <c:idx val="1"/>
            <c:spPr>
              <a:solidFill>
                <a:srgbClr val="F5B64C"/>
              </a:solidFill>
            </c:spPr>
          </c:dPt>
          <c:dPt>
            <c:idx val="2"/>
            <c:spPr>
              <a:solidFill>
                <a:srgbClr val="16324F"/>
              </a:solidFill>
            </c:spPr>
          </c:dPt>
          <c:cat>
            <c:strRef>
              <c:f>Sheet1!$A$2:$A$4</c:f>
              <c:strCache>
                <c:ptCount val="3"/>
                <c:pt idx="0">
                  <c:v>停止信号</c:v>
                </c:pt>
                <c:pt idx="1">
                  <c:v>失败</c:v>
                </c:pt>
                <c:pt idx="2">
                  <c:v>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</c:v>
                </c:pt>
                <c:pt idx="1">
                  <c:v>296</c:v>
                </c:pt>
                <c:pt idx="2">
                  <c:v>295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E7F1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25344F"/>
            </a:solidFill>
          </a:ln>
        </c:spPr>
        <c:txPr>
          <a:bodyPr/>
          <a:lstStyle/>
          <a:p>
            <a:pPr>
              <a:defRPr sz="1300">
                <a:solidFill>
                  <a:srgbClr val="8FA3C4"/>
                </a:solidFill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380.0"/>
          <c:min val="0.0"/>
        </c:scaling>
        <c:delete val="0"/>
        <c:axPos val="l"/>
        <c:majorGridlines>
          <c:spPr>
            <a:ln w="9525">
              <a:solidFill>
                <a:srgbClr val="25344F"/>
              </a:solidFill>
            </a:ln>
          </c:spPr>
        </c:majorGridlines>
        <c:majorTickMark val="out"/>
        <c:minorTickMark val="none"/>
        <c:tickLblPos val="none"/>
        <c:spPr>
          <a:ln w="9525">
            <a:solidFill>
              <a:srgbClr val="25344F"/>
            </a:solidFill>
          </a:ln>
        </c:spPr>
        <c:txPr>
          <a:bodyPr/>
          <a:lstStyle/>
          <a:p>
            <a:pPr>
              <a:defRPr sz="1300">
                <a:solidFill>
                  <a:srgbClr val="8FA3C4"/>
                </a:solidFill>
              </a:defRPr>
            </a:pPr>
          </a:p>
        </c:txPr>
        <c:crossAx val="2068027336"/>
        <c:crosses val="autoZero"/>
      </c:valAx>
      <c:spPr>
        <a:solidFill>
          <a:srgbClr val="131E33"/>
        </a:solidFill>
      </c:spPr>
    </c:plotArea>
    <c:dispBlanksAs val="gap"/>
  </c:chart>
  <c:spPr>
    <a:solidFill>
      <a:srgbClr val="131E33"/>
    </a:solidFill>
  </c:spPr>
  <c:txPr>
    <a:bodyPr/>
    <a:lstStyle/>
    <a:p>
      <a:pPr>
        <a:defRPr sz="1300">
          <a:solidFill>
            <a:srgbClr val="8FA3C4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数值</c:v>
                </c:pt>
              </c:strCache>
            </c:strRef>
          </c:tx>
          <c:dPt>
            <c:idx val="0"/>
            <c:spPr>
              <a:solidFill>
                <a:srgbClr val="35C6F4"/>
              </a:solidFill>
            </c:spPr>
          </c:dPt>
          <c:dPt>
            <c:idx val="1"/>
            <c:spPr>
              <a:solidFill>
                <a:srgbClr val="1E6FA8"/>
              </a:solidFill>
            </c:spPr>
          </c:dPt>
          <c:dPt>
            <c:idx val="2"/>
            <c:spPr>
              <a:solidFill>
                <a:srgbClr val="F5B64C"/>
              </a:solidFill>
            </c:spPr>
          </c:dPt>
          <c:cat>
            <c:strRef>
              <c:f>Sheet1!$A$2:$A$4</c:f>
              <c:strCache>
                <c:ptCount val="3"/>
                <c:pt idx="0">
                  <c:v>RUN</c:v>
                </c:pt>
                <c:pt idx="1">
                  <c:v>IDLE</c:v>
                </c:pt>
                <c:pt idx="2">
                  <c:v>DOWN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68821.251</c:v>
                </c:pt>
                <c:pt idx="1">
                  <c:v>16823.551</c:v>
                </c:pt>
                <c:pt idx="2">
                  <c:v>692.221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 b="1">
                  <a:solidFill>
                    <a:srgbClr val="C6D3E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  <c:spPr>
        <a:solidFill>
          <a:srgbClr val="131E33"/>
        </a:solidFill>
      </c:spPr>
    </c:plotArea>
    <c:legend>
      <c:legendPos/>
      <c:overlay val="0"/>
      <c:txPr>
        <a:bodyPr/>
        <a:lstStyle/>
        <a:p>
          <a:pPr>
            <a:defRPr sz="1300">
              <a:solidFill>
                <a:srgbClr val="8FA3C4"/>
              </a:solidFill>
            </a:defRPr>
          </a:pPr>
        </a:p>
      </c:txPr>
    </c:legend>
    <c:dispBlanksAs val="gap"/>
  </c:chart>
  <c:spPr>
    <a:solidFill>
      <a:srgbClr val="131E33"/>
    </a:solidFill>
  </c:spPr>
  <c:txPr>
    <a:bodyPr/>
    <a:lstStyle/>
    <a:p>
      <a:pPr>
        <a:defRPr sz="1300">
          <a:solidFill>
            <a:srgbClr val="8FA3C4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数值</c:v>
                </c:pt>
              </c:strCache>
            </c:strRef>
          </c:tx>
          <c:spPr>
            <a:ln w="25400">
              <a:solidFill>
                <a:srgbClr val="35C6F4"/>
              </a:solidFill>
            </a:ln>
          </c:spPr>
          <c:marker>
            <c:symbol val="circle"/>
            <c:spPr>
              <a:solidFill>
                <a:srgbClr val="35C6F4"/>
              </a:solidFill>
              <a:ln>
                <a:noFill/>
              </a:ln>
            </c:spPr>
          </c:marker>
          <c:cat>
            <c:strRef>
              <c:f>Sheet1!$A$2:$A$25</c:f>
              <c:strCache>
                <c:ptCount val="24"/>
                <c:pt idx="0">
                  <c:v>00:00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06:00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12:00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18:00</c:v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99.79</c:v>
                </c:pt>
                <c:pt idx="1">
                  <c:v>99.74</c:v>
                </c:pt>
                <c:pt idx="2">
                  <c:v>99.85</c:v>
                </c:pt>
                <c:pt idx="3">
                  <c:v>99.62</c:v>
                </c:pt>
                <c:pt idx="4">
                  <c:v>99.72</c:v>
                </c:pt>
                <c:pt idx="5">
                  <c:v>99.46</c:v>
                </c:pt>
                <c:pt idx="6">
                  <c:v>99.81</c:v>
                </c:pt>
                <c:pt idx="7">
                  <c:v>99.04</c:v>
                </c:pt>
                <c:pt idx="8">
                  <c:v>99.11</c:v>
                </c:pt>
                <c:pt idx="9">
                  <c:v>98.52</c:v>
                </c:pt>
                <c:pt idx="10">
                  <c:v>97.61</c:v>
                </c:pt>
                <c:pt idx="11">
                  <c:v>97.41</c:v>
                </c:pt>
                <c:pt idx="12">
                  <c:v>97.72</c:v>
                </c:pt>
                <c:pt idx="13">
                  <c:v>99.42</c:v>
                </c:pt>
                <c:pt idx="14">
                  <c:v>99.36</c:v>
                </c:pt>
                <c:pt idx="15">
                  <c:v>99.64</c:v>
                </c:pt>
                <c:pt idx="16">
                  <c:v>99.02</c:v>
                </c:pt>
                <c:pt idx="17">
                  <c:v>98.54</c:v>
                </c:pt>
                <c:pt idx="18">
                  <c:v>98.9</c:v>
                </c:pt>
                <c:pt idx="19">
                  <c:v>99.75</c:v>
                </c:pt>
                <c:pt idx="20">
                  <c:v>99.34</c:v>
                </c:pt>
                <c:pt idx="21">
                  <c:v>99.82</c:v>
                </c:pt>
                <c:pt idx="22">
                  <c:v>99.62</c:v>
                </c:pt>
                <c:pt idx="23">
                  <c:v>99.79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25344F"/>
            </a:solidFill>
          </a:ln>
        </c:spPr>
        <c:txPr>
          <a:bodyPr/>
          <a:lstStyle/>
          <a:p>
            <a:pPr>
              <a:defRPr sz="1300">
                <a:solidFill>
                  <a:srgbClr val="8FA3C4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2"/>
          <c:min val="96.8"/>
        </c:scaling>
        <c:delete val="0"/>
        <c:axPos val="l"/>
        <c:majorGridlines>
          <c:spPr>
            <a:ln w="9525">
              <a:solidFill>
                <a:srgbClr val="25344F"/>
              </a:solidFill>
            </a:ln>
          </c:spPr>
        </c:majorGridlines>
        <c:majorTickMark val="out"/>
        <c:minorTickMark val="none"/>
        <c:tickLblPos val="nextTo"/>
        <c:spPr>
          <a:ln w="9525">
            <a:solidFill>
              <a:srgbClr val="25344F"/>
            </a:solidFill>
          </a:ln>
        </c:spPr>
        <c:txPr>
          <a:bodyPr/>
          <a:lstStyle/>
          <a:p>
            <a:pPr>
              <a:defRPr sz="1300">
                <a:solidFill>
                  <a:srgbClr val="8FA3C4"/>
                </a:solidFill>
              </a:defRPr>
            </a:pPr>
          </a:p>
        </c:txPr>
        <c:crossAx val="2118791784"/>
        <c:crosses val="autoZero"/>
        <c:majorUnit val="1.0"/>
      </c:valAx>
      <c:spPr>
        <a:solidFill>
          <a:srgbClr val="131E33"/>
        </a:solidFill>
      </c:spPr>
    </c:plotArea>
    <c:legend>
      <c:legendPos/>
      <c:layout/>
      <c:overlay val="0"/>
      <c:txPr>
        <a:bodyPr/>
        <a:lstStyle/>
        <a:p>
          <a:pPr>
            <a:defRPr sz="1300">
              <a:solidFill>
                <a:srgbClr val="8FA3C4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31E33"/>
    </a:solidFill>
  </c:spPr>
  <c:txPr>
    <a:bodyPr/>
    <a:lstStyle/>
    <a:p>
      <a:pPr>
        <a:defRPr sz="1300">
          <a:solidFill>
            <a:srgbClr val="8FA3C4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封面：LM 設備一鍵自動分析報告（UPH / EFF / Alarm）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UPH 分析：Pure / Derated M1 / M2 三口径对比，Pure UPH 2183/h 为关键指标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 分析：EFF=99.2%，停机以非计划 uDT 692s 为主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停机 Pareto：ReasonID 411.0 贡献 98.71% 停机时长，为主要整改对象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报警分析：失败 296 次、NG 295 次为主，停止信号 74 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机台状态汇总：RUN 79.71% / IDLE 19.49% / DOWN 0.8%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机台状态趋势：每小时 EFF 24h 曲线，最低 97.41%，最高 99.85%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1020"/>
              </a:gs>
              <a:gs pos="100000">
                <a:srgbClr val="0E1A3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8766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991310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9495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998595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50223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005879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50952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013164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1501455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3002911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4504366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6005822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65750" y="365218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65750" y="365218"/>
            <a:ext cx="0" cy="18261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1643068" y="365218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44" y="365218"/>
            <a:ext cx="0" cy="18261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5750" y="649278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65750" y="6310171"/>
            <a:ext cx="0" cy="18261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643068" y="649278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825944" y="6310171"/>
            <a:ext cx="0" cy="18261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87667" y="3002911"/>
            <a:ext cx="731501" cy="121739"/>
          </a:xfrm>
          <a:prstGeom prst="rect">
            <a:avLst/>
          </a:prstGeom>
          <a:solidFill>
            <a:srgbClr val="F5B6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667" y="3611609"/>
            <a:ext cx="11216359" cy="81159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LM設備一鍵自動分析報告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67" y="4626106"/>
            <a:ext cx="8127796" cy="52753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8FA3C4"/>
                </a:solidFill>
                <a:latin typeface="Arial"/>
                <a:ea typeface="Microsoft YaHei"/>
                <a:cs typeface="Microsoft YaHei"/>
              </a:rPr>
              <a:t>—— UPH、EFF、Alarm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87667" y="6330461"/>
            <a:ext cx="11216360" cy="0"/>
          </a:xfrm>
          <a:prstGeom prst="line">
            <a:avLst/>
          </a:prstGeom>
          <a:ln w="9525">
            <a:solidFill>
              <a:srgbClr val="223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87667" y="6513071"/>
            <a:ext cx="650223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F7396"/>
                </a:solidFill>
                <a:latin typeface="Arial"/>
                <a:ea typeface="Microsoft YaHei"/>
                <a:cs typeface="Microsoft YaHei"/>
              </a:rPr>
              <a:t>© 2026 Hon Hai Precision Industry Co., Ltd. All rights reserved.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6135" y="6513071"/>
            <a:ext cx="1137891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F5B64C"/>
                </a:solidFill>
                <a:latin typeface="Arial"/>
                <a:ea typeface="Microsoft YaHei"/>
                <a:cs typeface="Microsoft YaHe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8766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991310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9495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998595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50223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005879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50952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013164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1501455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3002911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4504366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6005822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87667" y="304349"/>
            <a:ext cx="1381725" cy="365218"/>
          </a:xfrm>
          <a:prstGeom prst="roundRect">
            <a:avLst>
              <a:gd name="adj" fmla="val 50000"/>
            </a:avLst>
          </a:prstGeom>
          <a:solidFill>
            <a:srgbClr val="16233C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304349"/>
            <a:ext cx="1381725" cy="36521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5C6F4"/>
                </a:solidFill>
                <a:latin typeface="Arial"/>
                <a:ea typeface="Microsoft YaHei"/>
                <a:cs typeface="Microsoft YaHei"/>
              </a:rPr>
              <a:t>机台日志分析</a:t>
            </a:r>
          </a:p>
        </p:txBody>
      </p:sp>
      <p:pic>
        <p:nvPicPr>
          <p:cNvPr id="18" name="Picture 17" descr="icon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1949" y="304349"/>
            <a:ext cx="365750" cy="3652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438339" y="243479"/>
            <a:ext cx="6502237" cy="73043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UPH 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34634" y="324639"/>
            <a:ext cx="1869393" cy="365218"/>
          </a:xfrm>
          <a:prstGeom prst="roundRect">
            <a:avLst>
              <a:gd name="adj" fmla="val 50000"/>
            </a:avLst>
          </a:prstGeom>
          <a:solidFill>
            <a:srgbClr val="16233C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34634" y="324639"/>
            <a:ext cx="1869393" cy="36521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5C6F4"/>
                </a:solidFill>
                <a:latin typeface="Arial"/>
                <a:ea typeface="Microsoft YaHei"/>
                <a:cs typeface="Microsoft YaHei"/>
              </a:rPr>
              <a:t>02 / 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67" y="1115946"/>
            <a:ext cx="11216359" cy="36521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8FA3C4"/>
                </a:solidFill>
                <a:latin typeface="Arial"/>
                <a:ea typeface="Microsoft YaHei"/>
                <a:cs typeface="Microsoft YaHei"/>
              </a:rPr>
              <a:t>Pure UPH = 3600÷理想CT×每周期产出 · M1 = 投入÷运行时间 · M2 = 3600÷平均CT×每周期产出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50" y="1623195"/>
            <a:ext cx="6339681" cy="4585526"/>
          </a:xfrm>
          <a:prstGeom prst="roundRect">
            <a:avLst>
              <a:gd name="adj" fmla="val 12000"/>
            </a:avLst>
          </a:prstGeom>
          <a:solidFill>
            <a:srgbClr val="131E33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65750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5750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22556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705432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5750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65750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6522556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705432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609584" y="2231893"/>
          <a:ext cx="5852013" cy="340871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09584" y="1907254"/>
            <a:ext cx="609584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UPH 对比（个/小时）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266" y="1623195"/>
            <a:ext cx="4876678" cy="4585526"/>
          </a:xfrm>
          <a:prstGeom prst="roundRect">
            <a:avLst>
              <a:gd name="adj" fmla="val 12000"/>
            </a:avLst>
          </a:prstGeom>
          <a:solidFill>
            <a:srgbClr val="131E33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6949266" y="1623195"/>
            <a:ext cx="182875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49266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1643068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825944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949266" y="6208721"/>
            <a:ext cx="182875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949266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1643068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825944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7111822" y="1744934"/>
          <a:ext cx="4551566" cy="4342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3319"/>
                <a:gridCol w="1468247"/>
              </a:tblGrid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数值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Pure UPH(个/小时)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2183.27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Derated UPH M1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1506.04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Derated UPH M2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1199.85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EM投入数(个)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28791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EM良品数(个)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28791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运行时间RUN(秒)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68821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周期总数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28795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统计时长(秒)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86396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平均正常周期(秒)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1.649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理想周期CT(秒)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</a:tbl>
          </a:graphicData>
        </a:graphic>
      </p:graphicFrame>
      <p:cxnSp>
        <p:nvCxnSpPr>
          <p:cNvPr id="44" name="Connector 43"/>
          <p:cNvCxnSpPr/>
          <p:nvPr/>
        </p:nvCxnSpPr>
        <p:spPr>
          <a:xfrm>
            <a:off x="487667" y="6330461"/>
            <a:ext cx="11216360" cy="0"/>
          </a:xfrm>
          <a:prstGeom prst="line">
            <a:avLst/>
          </a:prstGeom>
          <a:ln w="9525">
            <a:solidFill>
              <a:srgbClr val="223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7667" y="6513071"/>
            <a:ext cx="650223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F7396"/>
                </a:solidFill>
                <a:latin typeface="Arial"/>
                <a:ea typeface="Microsoft YaHei"/>
                <a:cs typeface="Microsoft YaHei"/>
              </a:rPr>
              <a:t>© 2026 Hon Hai Precision Industry Co., Ltd. All rights reserved.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66135" y="6513071"/>
            <a:ext cx="1137891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F5B64C"/>
                </a:solidFill>
                <a:latin typeface="Arial"/>
                <a:ea typeface="Microsoft YaHei"/>
                <a:cs typeface="Microsoft YaHe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8766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991310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9495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998595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50223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005879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50952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013164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1501455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3002911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4504366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6005822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87667" y="304349"/>
            <a:ext cx="1381725" cy="365218"/>
          </a:xfrm>
          <a:prstGeom prst="roundRect">
            <a:avLst>
              <a:gd name="adj" fmla="val 50000"/>
            </a:avLst>
          </a:prstGeom>
          <a:solidFill>
            <a:srgbClr val="16233C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304349"/>
            <a:ext cx="1381725" cy="36521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5C6F4"/>
                </a:solidFill>
                <a:latin typeface="Arial"/>
                <a:ea typeface="Microsoft YaHei"/>
                <a:cs typeface="Microsoft YaHei"/>
              </a:rPr>
              <a:t>机台日志分析</a:t>
            </a:r>
          </a:p>
        </p:txBody>
      </p:sp>
      <p:pic>
        <p:nvPicPr>
          <p:cNvPr id="18" name="Picture 17" descr="icon_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1949" y="304349"/>
            <a:ext cx="365750" cy="3652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438339" y="243479"/>
            <a:ext cx="6502237" cy="73043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EFF 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34634" y="324639"/>
            <a:ext cx="1869393" cy="365218"/>
          </a:xfrm>
          <a:prstGeom prst="roundRect">
            <a:avLst>
              <a:gd name="adj" fmla="val 50000"/>
            </a:avLst>
          </a:prstGeom>
          <a:solidFill>
            <a:srgbClr val="16233C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34634" y="324639"/>
            <a:ext cx="1869393" cy="36521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5C6F4"/>
                </a:solidFill>
                <a:latin typeface="Arial"/>
                <a:ea typeface="Microsoft YaHei"/>
                <a:cs typeface="Microsoft YaHei"/>
              </a:rPr>
              <a:t>03 / 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67" y="1115946"/>
            <a:ext cx="11216359" cy="36521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8FA3C4"/>
                </a:solidFill>
                <a:latin typeface="Arial"/>
                <a:ea typeface="Microsoft YaHei"/>
                <a:cs typeface="Microsoft YaHei"/>
              </a:rPr>
              <a:t>EFF = 操作时间（运行+待机）/ 计划生产时间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50" y="1623195"/>
            <a:ext cx="6339681" cy="4585526"/>
          </a:xfrm>
          <a:prstGeom prst="roundRect">
            <a:avLst>
              <a:gd name="adj" fmla="val 12000"/>
            </a:avLst>
          </a:prstGeom>
          <a:solidFill>
            <a:srgbClr val="131E33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65750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5750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22556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705432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5750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65750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6522556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705432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609584" y="2231893"/>
          <a:ext cx="5852013" cy="340871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09584" y="1907254"/>
            <a:ext cx="609584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时间构成（秒）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266" y="1623195"/>
            <a:ext cx="4876678" cy="4585526"/>
          </a:xfrm>
          <a:prstGeom prst="roundRect">
            <a:avLst>
              <a:gd name="adj" fmla="val 12000"/>
            </a:avLst>
          </a:prstGeom>
          <a:solidFill>
            <a:srgbClr val="131E33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6949266" y="1623195"/>
            <a:ext cx="182875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49266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1643068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825944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949266" y="6208721"/>
            <a:ext cx="182875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949266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1643068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825944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7111822" y="1744934"/>
          <a:ext cx="4551566" cy="4342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3319"/>
                <a:gridCol w="1468247"/>
              </a:tblGrid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数值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总时间(秒)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86337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计划生产时间(秒)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86337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运行时间RUN(秒)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68821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待机时间IDLE(秒)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16824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停机时间DOWN(秒)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692.2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计划停机pDT(秒)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0.0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非计划停机uDT(秒)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692.2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可用性损失(秒)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692.2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操作时间(秒)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85645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39473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EFF(%)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99.2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</a:tbl>
          </a:graphicData>
        </a:graphic>
      </p:graphicFrame>
      <p:cxnSp>
        <p:nvCxnSpPr>
          <p:cNvPr id="44" name="Connector 43"/>
          <p:cNvCxnSpPr/>
          <p:nvPr/>
        </p:nvCxnSpPr>
        <p:spPr>
          <a:xfrm>
            <a:off x="487667" y="6330461"/>
            <a:ext cx="11216360" cy="0"/>
          </a:xfrm>
          <a:prstGeom prst="line">
            <a:avLst/>
          </a:prstGeom>
          <a:ln w="9525">
            <a:solidFill>
              <a:srgbClr val="223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7667" y="6513071"/>
            <a:ext cx="650223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F7396"/>
                </a:solidFill>
                <a:latin typeface="Arial"/>
                <a:ea typeface="Microsoft YaHei"/>
                <a:cs typeface="Microsoft YaHei"/>
              </a:rPr>
              <a:t>© 2026 Hon Hai Precision Industry Co., Ltd. All rights reserved.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66135" y="6513071"/>
            <a:ext cx="1137891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F5B64C"/>
                </a:solidFill>
                <a:latin typeface="Arial"/>
                <a:ea typeface="Microsoft YaHei"/>
                <a:cs typeface="Microsoft YaHe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8766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991310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9495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998595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50223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005879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50952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013164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1501455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3002911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4504366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6005822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87667" y="304349"/>
            <a:ext cx="1381725" cy="365218"/>
          </a:xfrm>
          <a:prstGeom prst="roundRect">
            <a:avLst>
              <a:gd name="adj" fmla="val 50000"/>
            </a:avLst>
          </a:prstGeom>
          <a:solidFill>
            <a:srgbClr val="16233C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304349"/>
            <a:ext cx="1381725" cy="36521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5C6F4"/>
                </a:solidFill>
                <a:latin typeface="Arial"/>
                <a:ea typeface="Microsoft YaHei"/>
                <a:cs typeface="Microsoft YaHei"/>
              </a:rPr>
              <a:t>机台日志分析</a:t>
            </a:r>
          </a:p>
        </p:txBody>
      </p:sp>
      <p:pic>
        <p:nvPicPr>
          <p:cNvPr id="18" name="Picture 17" descr="icon_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1949" y="304349"/>
            <a:ext cx="365750" cy="3652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438339" y="243479"/>
            <a:ext cx="6502237" cy="73043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停机 Pareto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34634" y="324639"/>
            <a:ext cx="1869393" cy="365218"/>
          </a:xfrm>
          <a:prstGeom prst="roundRect">
            <a:avLst>
              <a:gd name="adj" fmla="val 50000"/>
            </a:avLst>
          </a:prstGeom>
          <a:solidFill>
            <a:srgbClr val="16233C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34634" y="324639"/>
            <a:ext cx="1869393" cy="36521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5C6F4"/>
                </a:solidFill>
                <a:latin typeface="Arial"/>
                <a:ea typeface="Microsoft YaHei"/>
                <a:cs typeface="Microsoft YaHei"/>
              </a:rPr>
              <a:t>04 / 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67" y="1115946"/>
            <a:ext cx="11216359" cy="36521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8FA3C4"/>
                </a:solidFill>
                <a:latin typeface="Arial"/>
                <a:ea typeface="Microsoft YaHei"/>
                <a:cs typeface="Microsoft YaHei"/>
              </a:rPr>
              <a:t>按 ReasonID 统计停机时长 Top10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50" y="1623195"/>
            <a:ext cx="6339681" cy="4585526"/>
          </a:xfrm>
          <a:prstGeom prst="roundRect">
            <a:avLst>
              <a:gd name="adj" fmla="val 12000"/>
            </a:avLst>
          </a:prstGeom>
          <a:solidFill>
            <a:srgbClr val="131E33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65750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5750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22556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705432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5750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65750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6522556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705432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609584" y="2231893"/>
          <a:ext cx="5852013" cy="340871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09584" y="1907254"/>
            <a:ext cx="609584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停机时长（秒）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266" y="1623195"/>
            <a:ext cx="4876678" cy="4585526"/>
          </a:xfrm>
          <a:prstGeom prst="roundRect">
            <a:avLst>
              <a:gd name="adj" fmla="val 12000"/>
            </a:avLst>
          </a:prstGeom>
          <a:solidFill>
            <a:srgbClr val="131E33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6949266" y="1623195"/>
            <a:ext cx="182875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49266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1643068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825944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949266" y="6208721"/>
            <a:ext cx="182875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949266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1643068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825944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7111822" y="1744934"/>
          <a:ext cx="4551564" cy="43420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469"/>
                <a:gridCol w="796524"/>
                <a:gridCol w="1365469"/>
                <a:gridCol w="1024102"/>
              </a:tblGrid>
              <a:tr h="1447349">
                <a:tc>
                  <a:txBody>
                    <a:bodyPr wrap="none"/>
                    <a:lstStyle/>
                    <a:p>
                      <a:pPr algn="l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ReasonID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次数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总时长(秒)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占比(%)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</a:tr>
              <a:tr h="1447349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411.0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90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683.3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98.71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1447349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412.0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8.9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1.29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</a:tbl>
          </a:graphicData>
        </a:graphic>
      </p:graphicFrame>
      <p:cxnSp>
        <p:nvCxnSpPr>
          <p:cNvPr id="44" name="Connector 43"/>
          <p:cNvCxnSpPr/>
          <p:nvPr/>
        </p:nvCxnSpPr>
        <p:spPr>
          <a:xfrm>
            <a:off x="487667" y="6330461"/>
            <a:ext cx="11216360" cy="0"/>
          </a:xfrm>
          <a:prstGeom prst="line">
            <a:avLst/>
          </a:prstGeom>
          <a:ln w="9525">
            <a:solidFill>
              <a:srgbClr val="223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7667" y="6513071"/>
            <a:ext cx="650223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F7396"/>
                </a:solidFill>
                <a:latin typeface="Arial"/>
                <a:ea typeface="Microsoft YaHei"/>
                <a:cs typeface="Microsoft YaHei"/>
              </a:rPr>
              <a:t>© 2026 Hon Hai Precision Industry Co., Ltd. All rights reserved.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66135" y="6513071"/>
            <a:ext cx="1137891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F5B64C"/>
                </a:solidFill>
                <a:latin typeface="Arial"/>
                <a:ea typeface="Microsoft YaHei"/>
                <a:cs typeface="Microsoft YaHe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8766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991310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9495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998595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50223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005879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50952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013164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1501455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3002911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4504366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6005822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87667" y="304349"/>
            <a:ext cx="1381725" cy="365218"/>
          </a:xfrm>
          <a:prstGeom prst="roundRect">
            <a:avLst>
              <a:gd name="adj" fmla="val 50000"/>
            </a:avLst>
          </a:prstGeom>
          <a:solidFill>
            <a:srgbClr val="16233C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304349"/>
            <a:ext cx="1381725" cy="36521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5C6F4"/>
                </a:solidFill>
                <a:latin typeface="Arial"/>
                <a:ea typeface="Microsoft YaHei"/>
                <a:cs typeface="Microsoft YaHei"/>
              </a:rPr>
              <a:t>机台日志分析</a:t>
            </a:r>
          </a:p>
        </p:txBody>
      </p:sp>
      <p:pic>
        <p:nvPicPr>
          <p:cNvPr id="18" name="Picture 17" descr="icon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1949" y="304349"/>
            <a:ext cx="365750" cy="3652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438339" y="243479"/>
            <a:ext cx="6502237" cy="73043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报警分析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34634" y="324639"/>
            <a:ext cx="1869393" cy="365218"/>
          </a:xfrm>
          <a:prstGeom prst="roundRect">
            <a:avLst>
              <a:gd name="adj" fmla="val 50000"/>
            </a:avLst>
          </a:prstGeom>
          <a:solidFill>
            <a:srgbClr val="16233C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34634" y="324639"/>
            <a:ext cx="1869393" cy="36521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5C6F4"/>
                </a:solidFill>
                <a:latin typeface="Arial"/>
                <a:ea typeface="Microsoft YaHei"/>
                <a:cs typeface="Microsoft YaHei"/>
              </a:rPr>
              <a:t>05 / 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67" y="1115946"/>
            <a:ext cx="11216359" cy="36521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8FA3C4"/>
                </a:solidFill>
                <a:latin typeface="Arial"/>
                <a:ea typeface="Microsoft YaHei"/>
                <a:cs typeface="Microsoft YaHei"/>
              </a:rPr>
              <a:t>按关键词与模块统计报警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50" y="1623195"/>
            <a:ext cx="6339681" cy="4585526"/>
          </a:xfrm>
          <a:prstGeom prst="roundRect">
            <a:avLst>
              <a:gd name="adj" fmla="val 12000"/>
            </a:avLst>
          </a:prstGeom>
          <a:solidFill>
            <a:srgbClr val="131E33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65750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5750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22556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705432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5750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65750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6522556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705432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609584" y="2231893"/>
          <a:ext cx="5852013" cy="340871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09584" y="1907254"/>
            <a:ext cx="609584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报警次数 Top10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266" y="1623195"/>
            <a:ext cx="4876678" cy="4585526"/>
          </a:xfrm>
          <a:prstGeom prst="roundRect">
            <a:avLst>
              <a:gd name="adj" fmla="val 12000"/>
            </a:avLst>
          </a:prstGeom>
          <a:solidFill>
            <a:srgbClr val="131E33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6949266" y="1623195"/>
            <a:ext cx="182875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49266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1643068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825944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949266" y="6208721"/>
            <a:ext cx="182875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949266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1643068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825944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7111822" y="1744934"/>
          <a:ext cx="4551566" cy="434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3319"/>
                <a:gridCol w="1468247"/>
              </a:tblGrid>
              <a:tr h="1085511">
                <a:tc>
                  <a:txBody>
                    <a:bodyPr wrap="none"/>
                    <a:lstStyle/>
                    <a:p>
                      <a:pPr algn="l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命中关键词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报警次数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</a:tr>
              <a:tr h="108551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停止信号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74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108551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失败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296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  <a:tr h="108551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NG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295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</a:tbl>
          </a:graphicData>
        </a:graphic>
      </p:graphicFrame>
      <p:cxnSp>
        <p:nvCxnSpPr>
          <p:cNvPr id="44" name="Connector 43"/>
          <p:cNvCxnSpPr/>
          <p:nvPr/>
        </p:nvCxnSpPr>
        <p:spPr>
          <a:xfrm>
            <a:off x="487667" y="6330461"/>
            <a:ext cx="11216360" cy="0"/>
          </a:xfrm>
          <a:prstGeom prst="line">
            <a:avLst/>
          </a:prstGeom>
          <a:ln w="9525">
            <a:solidFill>
              <a:srgbClr val="223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7667" y="6513071"/>
            <a:ext cx="650223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F7396"/>
                </a:solidFill>
                <a:latin typeface="Arial"/>
                <a:ea typeface="Microsoft YaHei"/>
                <a:cs typeface="Microsoft YaHei"/>
              </a:rPr>
              <a:t>© 2026 Hon Hai Precision Industry Co., Ltd. All rights reserved.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66135" y="6513071"/>
            <a:ext cx="1137891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F5B64C"/>
                </a:solidFill>
                <a:latin typeface="Arial"/>
                <a:ea typeface="Microsoft YaHei"/>
                <a:cs typeface="Microsoft YaHe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8766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991310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9495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998595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50223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005879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50952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013164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1501455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3002911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4504366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6005822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87667" y="304349"/>
            <a:ext cx="1381725" cy="365218"/>
          </a:xfrm>
          <a:prstGeom prst="roundRect">
            <a:avLst>
              <a:gd name="adj" fmla="val 50000"/>
            </a:avLst>
          </a:prstGeom>
          <a:solidFill>
            <a:srgbClr val="16233C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304349"/>
            <a:ext cx="1381725" cy="36521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5C6F4"/>
                </a:solidFill>
                <a:latin typeface="Arial"/>
                <a:ea typeface="Microsoft YaHei"/>
                <a:cs typeface="Microsoft YaHei"/>
              </a:rPr>
              <a:t>机台日志分析</a:t>
            </a:r>
          </a:p>
        </p:txBody>
      </p:sp>
      <p:pic>
        <p:nvPicPr>
          <p:cNvPr id="18" name="Picture 17" descr="icon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1949" y="304349"/>
            <a:ext cx="365750" cy="3652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438339" y="243479"/>
            <a:ext cx="6502237" cy="73043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机台状态汇总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34634" y="324639"/>
            <a:ext cx="1869393" cy="365218"/>
          </a:xfrm>
          <a:prstGeom prst="roundRect">
            <a:avLst>
              <a:gd name="adj" fmla="val 50000"/>
            </a:avLst>
          </a:prstGeom>
          <a:solidFill>
            <a:srgbClr val="16233C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34634" y="324639"/>
            <a:ext cx="1869393" cy="36521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5C6F4"/>
                </a:solidFill>
                <a:latin typeface="Arial"/>
                <a:ea typeface="Microsoft YaHei"/>
                <a:cs typeface="Microsoft YaHei"/>
              </a:rPr>
              <a:t>06 / 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67" y="1115946"/>
            <a:ext cx="11216359" cy="36521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8FA3C4"/>
                </a:solidFill>
                <a:latin typeface="Arial"/>
                <a:ea typeface="Microsoft YaHei"/>
                <a:cs typeface="Microsoft YaHei"/>
              </a:rPr>
              <a:t>RUN / IDLE / DOWN / WARN 时长与占比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50" y="1623195"/>
            <a:ext cx="6339681" cy="4585526"/>
          </a:xfrm>
          <a:prstGeom prst="roundRect">
            <a:avLst>
              <a:gd name="adj" fmla="val 12000"/>
            </a:avLst>
          </a:prstGeom>
          <a:solidFill>
            <a:srgbClr val="131E33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65750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5750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22556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705432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5750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65750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6522556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705432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609584" y="2231893"/>
          <a:ext cx="5852013" cy="340871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09584" y="1907254"/>
            <a:ext cx="609584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状态时长（秒）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266" y="1623195"/>
            <a:ext cx="4876678" cy="4585526"/>
          </a:xfrm>
          <a:prstGeom prst="roundRect">
            <a:avLst>
              <a:gd name="adj" fmla="val 12000"/>
            </a:avLst>
          </a:prstGeom>
          <a:solidFill>
            <a:srgbClr val="131E33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6949266" y="1623195"/>
            <a:ext cx="182875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49266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1643068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825944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949266" y="6208721"/>
            <a:ext cx="182875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949266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1643068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825944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7111822" y="1744934"/>
          <a:ext cx="4551564" cy="434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002"/>
                <a:gridCol w="838446"/>
                <a:gridCol w="1557114"/>
                <a:gridCol w="1078002"/>
              </a:tblGrid>
              <a:tr h="1085511">
                <a:tc>
                  <a:txBody>
                    <a:bodyPr wrap="none"/>
                    <a:lstStyle/>
                    <a:p>
                      <a:pPr algn="l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次数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总时长(秒)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400" b="1">
                          <a:solidFill>
                            <a:srgbClr val="8FD8F7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占比(%)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B2B47"/>
                    </a:solidFill>
                  </a:tcPr>
                </a:tc>
              </a:tr>
              <a:tr h="108551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RUN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1471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68821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79.71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  <a:tr h="108551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IDLE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1451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16824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19.49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6233C"/>
                    </a:solidFill>
                  </a:tcPr>
                </a:tc>
              </a:tr>
              <a:tr h="1085511">
                <a:tc>
                  <a:txBody>
                    <a:bodyPr wrap="none"/>
                    <a:lstStyle/>
                    <a:p>
                      <a:pPr algn="l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DOWN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91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692.2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300" b="0">
                          <a:solidFill>
                            <a:srgbClr val="C6D3E8"/>
                          </a:solidFill>
                          <a:latin typeface="Arial"/>
                          <a:ea typeface="Microsoft YaHei"/>
                          <a:cs typeface="Microsoft YaHei"/>
                        </a:rPr>
                        <a:t>0.8</a:t>
                      </a:r>
                    </a:p>
                  </a:txBody>
                  <a:tcPr anchor="ctr" marL="162555" marR="162555" marT="0" marB="0">
                    <a:lnL w="6350" cap="flat" cmpd="sng" algn="ctr">
                      <a:solidFill>
                        <a:srgbClr val="22314D"/>
                      </a:solidFill>
                    </a:lnL>
                    <a:lnR w="6350" cap="flat" cmpd="sng" algn="ctr">
                      <a:solidFill>
                        <a:srgbClr val="22314D"/>
                      </a:solidFill>
                    </a:lnR>
                    <a:lnT w="6350" cap="flat" cmpd="sng" algn="ctr">
                      <a:solidFill>
                        <a:srgbClr val="22314D"/>
                      </a:solidFill>
                    </a:lnT>
                    <a:lnB w="6350" cap="flat" cmpd="sng" algn="ctr">
                      <a:solidFill>
                        <a:srgbClr val="22314D"/>
                      </a:solidFill>
                    </a:lnB>
                    <a:solidFill>
                      <a:srgbClr val="131E33"/>
                    </a:solidFill>
                  </a:tcPr>
                </a:tc>
              </a:tr>
            </a:tbl>
          </a:graphicData>
        </a:graphic>
      </p:graphicFrame>
      <p:cxnSp>
        <p:nvCxnSpPr>
          <p:cNvPr id="44" name="Connector 43"/>
          <p:cNvCxnSpPr/>
          <p:nvPr/>
        </p:nvCxnSpPr>
        <p:spPr>
          <a:xfrm>
            <a:off x="487667" y="6330461"/>
            <a:ext cx="11216360" cy="0"/>
          </a:xfrm>
          <a:prstGeom prst="line">
            <a:avLst/>
          </a:prstGeom>
          <a:ln w="9525">
            <a:solidFill>
              <a:srgbClr val="223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7667" y="6513071"/>
            <a:ext cx="650223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F7396"/>
                </a:solidFill>
                <a:latin typeface="Arial"/>
                <a:ea typeface="Microsoft YaHei"/>
                <a:cs typeface="Microsoft YaHei"/>
              </a:rPr>
              <a:t>© 2026 Hon Hai Precision Industry Co., Ltd. All rights reserved.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66135" y="6513071"/>
            <a:ext cx="1137891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F5B64C"/>
                </a:solidFill>
                <a:latin typeface="Arial"/>
                <a:ea typeface="Microsoft YaHei"/>
                <a:cs typeface="Microsoft YaHe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8766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991310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9495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998595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502237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005879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509522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013164" y="0"/>
            <a:ext cx="0" cy="685800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1501455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3002911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4504366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6005822"/>
            <a:ext cx="12191695" cy="0"/>
          </a:xfrm>
          <a:prstGeom prst="line">
            <a:avLst/>
          </a:prstGeom>
          <a:ln w="9525">
            <a:solidFill>
              <a:srgbClr val="101C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87667" y="304349"/>
            <a:ext cx="1381725" cy="365218"/>
          </a:xfrm>
          <a:prstGeom prst="roundRect">
            <a:avLst>
              <a:gd name="adj" fmla="val 50000"/>
            </a:avLst>
          </a:prstGeom>
          <a:solidFill>
            <a:srgbClr val="16233C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304349"/>
            <a:ext cx="1381725" cy="36521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5C6F4"/>
                </a:solidFill>
                <a:latin typeface="Arial"/>
                <a:ea typeface="Microsoft YaHei"/>
                <a:cs typeface="Microsoft YaHei"/>
              </a:rPr>
              <a:t>机台日志分析</a:t>
            </a:r>
          </a:p>
        </p:txBody>
      </p:sp>
      <p:pic>
        <p:nvPicPr>
          <p:cNvPr id="18" name="Picture 17" descr="icon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1949" y="304349"/>
            <a:ext cx="365750" cy="3652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438339" y="243479"/>
            <a:ext cx="6502237" cy="73043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机台状态趋势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34634" y="324639"/>
            <a:ext cx="1869393" cy="365218"/>
          </a:xfrm>
          <a:prstGeom prst="roundRect">
            <a:avLst>
              <a:gd name="adj" fmla="val 50000"/>
            </a:avLst>
          </a:prstGeom>
          <a:solidFill>
            <a:srgbClr val="16233C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34634" y="324639"/>
            <a:ext cx="1869393" cy="36521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5C6F4"/>
                </a:solidFill>
                <a:latin typeface="Arial"/>
                <a:ea typeface="Microsoft YaHei"/>
                <a:cs typeface="Microsoft YaHei"/>
              </a:rPr>
              <a:t>07 / 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67" y="1115946"/>
            <a:ext cx="11216359" cy="36521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8FA3C4"/>
                </a:solidFill>
                <a:latin typeface="Arial"/>
                <a:ea typeface="Microsoft YaHei"/>
                <a:cs typeface="Microsoft YaHei"/>
              </a:rPr>
              <a:t>每小时 EFF 趋势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50" y="1623195"/>
            <a:ext cx="11460193" cy="4585526"/>
          </a:xfrm>
          <a:prstGeom prst="roundRect">
            <a:avLst>
              <a:gd name="adj" fmla="val 12000"/>
            </a:avLst>
          </a:prstGeom>
          <a:solidFill>
            <a:srgbClr val="131E33"/>
          </a:solidFill>
          <a:ln w="9525">
            <a:solidFill>
              <a:srgbClr val="2534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65750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5750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643068" y="1623195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825944" y="1623195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5750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65750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643068" y="6208721"/>
            <a:ext cx="182876" cy="0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1825944" y="6026112"/>
            <a:ext cx="0" cy="182609"/>
          </a:xfrm>
          <a:prstGeom prst="line">
            <a:avLst/>
          </a:prstGeom>
          <a:ln w="12700">
            <a:solidFill>
              <a:srgbClr val="35C6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609584" y="2231893"/>
          <a:ext cx="10972525" cy="340871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09584" y="1907254"/>
            <a:ext cx="609584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7F1FF"/>
                </a:solidFill>
                <a:latin typeface="Arial"/>
                <a:ea typeface="Microsoft YaHei"/>
                <a:cs typeface="Microsoft YaHei"/>
              </a:rPr>
              <a:t>每小时 EFF(%)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87667" y="6330461"/>
            <a:ext cx="11216360" cy="0"/>
          </a:xfrm>
          <a:prstGeom prst="line">
            <a:avLst/>
          </a:prstGeom>
          <a:ln w="9525">
            <a:solidFill>
              <a:srgbClr val="223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87667" y="6513071"/>
            <a:ext cx="6502237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F7396"/>
                </a:solidFill>
                <a:latin typeface="Arial"/>
                <a:ea typeface="Microsoft YaHei"/>
                <a:cs typeface="Microsoft YaHei"/>
              </a:rPr>
              <a:t>© 2026 Hon Hai Precision Industry Co., Ltd. All rights reserved.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66135" y="6513071"/>
            <a:ext cx="1137891" cy="2840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F5B64C"/>
                </a:solidFill>
                <a:latin typeface="Arial"/>
                <a:ea typeface="Microsoft YaHei"/>
                <a:cs typeface="Microsoft YaHe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LM 設備一鍵自動分析報告（方案 C 视觉稿）</dc:title>
  <dc:subject/>
  <dc:creator>ABU NPD EOL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