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F5149"/>
    <a:srgbClr val="FA574F"/>
    <a:srgbClr val="083C63"/>
    <a:srgbClr val="E83534"/>
    <a:srgbClr val="0052A3"/>
    <a:srgbClr val="002A88"/>
    <a:srgbClr val="D7D2CF"/>
    <a:srgbClr val="4BE0FF"/>
    <a:srgbClr val="379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16222A-CCCD-2349-B594-451B3FA716EA}" v="2" dt="2026-01-02T02:37:59.756"/>
    <p1510:client id="{B5F9A72E-960D-4385-876B-1DB45DC05005}" v="2" dt="2026-01-02T02:46:30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8" y="357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2026/8/8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50B98B51-0193-FC2B-10F5-1036A47724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84575" y="5897041"/>
            <a:ext cx="2077418" cy="2013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D53B2DA-23EF-2BA0-60FD-C70AD4D362C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D456266-2EA6-ADC0-61DE-FF542E06B3A7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668" y="313930"/>
            <a:ext cx="3455399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en-US" altLang="zh-TW" sz="4400"/>
              <a:t>Agenda</a:t>
            </a:r>
            <a:endParaRPr lang="zh-TW" altLang="en-US" sz="4400" spc="300">
              <a:solidFill>
                <a:prstClr val="white"/>
              </a:solidFill>
              <a:cs typeface="Microsoft JhengHei" charset="-12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F3E9243-2B8F-44F4-108B-D759BF796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8917" y="1834807"/>
            <a:ext cx="4570617" cy="271069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ts val="4000"/>
              </a:lnSpc>
              <a:buClr>
                <a:srgbClr val="FA574F"/>
              </a:buClr>
              <a:buFont typeface="+mj-lt"/>
              <a:buAutoNum type="arabicPeriod"/>
              <a:defRPr kumimoji="1" lang="en-US" altLang="zh-TW" sz="3200" b="1" smtClean="0">
                <a:solidFill>
                  <a:srgbClr val="083C63"/>
                </a:solidFill>
              </a:defRPr>
            </a:lvl1pPr>
          </a:lstStyle>
          <a:p>
            <a:pPr lvl="0"/>
            <a:r>
              <a:rPr kumimoji="1" lang="en-US" altLang="zh-TW" b="1">
                <a:solidFill>
                  <a:schemeClr val="bg1"/>
                </a:solidFill>
                <a:latin typeface="+mj-lt"/>
              </a:rPr>
              <a:t>Item 1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997460-724F-1A79-A29A-E03E94A57884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748CD0-F793-9D2F-02FC-9951BB2DF0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1" y="247243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54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019652C-E460-F7FD-385F-3E9B2E3F96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7463" y="820001"/>
            <a:ext cx="6535737" cy="5344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6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</p:spTree>
    <p:extLst>
      <p:ext uri="{BB962C8B-B14F-4D97-AF65-F5344CB8AC3E}">
        <p14:creationId xmlns:p14="http://schemas.microsoft.com/office/powerpoint/2010/main" val="272722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5826FFA-4636-58C6-F8C2-C6EED25E7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820001"/>
            <a:ext cx="4003176" cy="259791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A1BA8FC-B06A-7AC6-41C0-90498089D4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0250" y="3801946"/>
            <a:ext cx="4002088" cy="1260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0191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041C1-F23F-8759-86C7-D00CA764822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8676" y="1489165"/>
            <a:ext cx="65786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5" name="Online Image Placeholder 5">
            <a:extLst>
              <a:ext uri="{FF2B5EF4-FFF2-40B4-BE49-F238E27FC236}">
                <a16:creationId xmlns:a16="http://schemas.microsoft.com/office/drawing/2014/main" id="{800287A8-5609-7BD7-B2AB-4023B460F2D4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7395877" y="1489075"/>
            <a:ext cx="4197350" cy="4687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5157C0-05C5-1B6C-1CF5-B1622C23AA35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C1AAACC-DDEA-9F4D-5C10-EFE9D149FF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5D557D1F-EA7F-3D0D-5BBD-B67B656B5E66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88677" y="1473200"/>
            <a:ext cx="11004550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A461AB-2EEA-48C7-51F2-13F5BCED8189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DD9873C-8352-A29F-C7F7-11C49301D7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09656B9-3047-0DED-7582-6120AB5584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232" y="1489165"/>
            <a:ext cx="55372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091401-7491-337F-6685-9E23690199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80433" y="1489165"/>
            <a:ext cx="5212794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5F4DCD-D63E-2143-CF32-4794C0E41D8B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955D4D-F099-10E2-2E61-C81E72B9B8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3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B3FB52-298C-3AFD-47BF-FE86A729C445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F525262-2DAD-5472-AD11-410F22083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0E72794-9969-6935-1DD0-AC57797A78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72233"/>
            <a:ext cx="11003794" cy="46877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None/>
              <a:defRPr sz="3200"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1pPr>
            <a:lvl2pPr marL="685800" indent="-228600">
              <a:lnSpc>
                <a:spcPct val="100000"/>
              </a:lnSpc>
              <a:buClr>
                <a:srgbClr val="FA574F"/>
              </a:buClr>
              <a:buFont typeface="Wingdings" pitchFamily="2" charset="2"/>
              <a:buChar char="n"/>
              <a:defRPr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3pPr>
            <a:lvl4pPr>
              <a:lnSpc>
                <a:spcPct val="100000"/>
              </a:lnSpc>
              <a:defRPr lang="zh-TW" altLang="en-US" sz="1600" b="0" i="0" kern="1200" spc="0" baseline="0" dirty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  <a:cs typeface="+mn-cs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" altLang="zh-TW"/>
              <a:t>Content font (32pt Arial) </a:t>
            </a:r>
            <a:r>
              <a:rPr lang="en-US" altLang="zh-TW"/>
              <a:t> </a:t>
            </a:r>
            <a:endParaRPr lang="zh-TW" altLang="en-US"/>
          </a:p>
          <a:p>
            <a:pPr lvl="1"/>
            <a:r>
              <a:rPr lang="zh-TW" altLang="en-US"/>
              <a:t> </a:t>
            </a:r>
            <a:r>
              <a:rPr lang="en" altLang="zh-TW"/>
              <a:t>Level 1 (24pt Arial)</a:t>
            </a:r>
          </a:p>
          <a:p>
            <a:pPr lvl="2"/>
            <a:r>
              <a:rPr lang="en" altLang="zh-TW"/>
              <a:t>Level 2 (20pt Arial)</a:t>
            </a:r>
            <a:endParaRPr lang="zh-TW" altLang="en-US"/>
          </a:p>
          <a:p>
            <a:pPr lvl="3"/>
            <a:r>
              <a:rPr lang="en" altLang="zh-TW"/>
              <a:t>Level 3</a:t>
            </a:r>
            <a:r>
              <a:rPr lang="zh-TW" altLang="en-US"/>
              <a:t> </a:t>
            </a:r>
            <a:r>
              <a:rPr lang="en" altLang="zh-TW"/>
              <a:t>(16pt Arial) </a:t>
            </a:r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D3E5B16-50FD-D712-307F-8CFA804434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3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BD52D6B3-5DDD-5511-69C0-4996E929622A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4433299" y="1473200"/>
            <a:ext cx="7159928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68F3392-49F0-E568-3A03-F9360D8AD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89433" y="1473200"/>
            <a:ext cx="3624263" cy="4686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108D54-FD4E-0382-0936-262D92F08FD3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1898D138-1282-723B-C0E3-BC199CF8A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CC1E9C-421F-E03A-4BB9-1677839371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8112E1E-F81B-0BD1-C353-2C2FF6F91CAD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E095AE-2684-3D8F-E0CE-98640A47514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75" r:id="rId4"/>
    <p:sldLayoutId id="2147483676" r:id="rId5"/>
    <p:sldLayoutId id="2147483677" r:id="rId6"/>
    <p:sldLayoutId id="2147483669" r:id="rId7"/>
    <p:sldLayoutId id="2147483674" r:id="rId8"/>
    <p:sldLayoutId id="2147483678" r:id="rId9"/>
    <p:sldLayoutId id="2147483679" r:id="rId10"/>
    <p:sldLayoutId id="214748368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4672" y="2286000"/>
            <a:ext cx="112471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dirty="0" smtClean="0">
                <a:solidFill>
                  <a:srgbClr val="EF5149"/>
                </a:solidFill>
                <a:latin typeface="Times New Roman"/>
                <a:ea typeface="宋体"/>
              </a:rPr>
              <a:t>M</a:t>
            </a:r>
            <a:r>
              <a:rPr lang="en-US" sz="5400" b="1" dirty="0" smtClean="0">
                <a:solidFill>
                  <a:srgbClr val="EF5149"/>
                </a:solidFill>
                <a:latin typeface="Times New Roman"/>
                <a:ea typeface="宋体"/>
              </a:rPr>
              <a:t>achine</a:t>
            </a:r>
            <a:r>
              <a:rPr sz="5400" b="1" dirty="0" smtClean="0">
                <a:solidFill>
                  <a:srgbClr val="EF5149"/>
                </a:solidFill>
                <a:latin typeface="Times New Roman"/>
                <a:ea typeface="宋体"/>
              </a:rPr>
              <a:t> </a:t>
            </a:r>
            <a:r>
              <a:rPr sz="5400" b="1" dirty="0">
                <a:solidFill>
                  <a:srgbClr val="EF5149"/>
                </a:solidFill>
                <a:latin typeface="Times New Roman"/>
                <a:ea typeface="宋体"/>
              </a:rPr>
              <a:t>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机台日志分析工具 · 使用说明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4114800"/>
            <a:ext cx="31089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4343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功能与亮点  ·  操作教学  ·  制程与口径  ·  输出与注意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0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v1.0  ·  内部使用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237891" y="1834807"/>
            <a:ext cx="5671644" cy="271069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sz="1400" b="0" dirty="0">
                <a:solidFill>
                  <a:srgbClr val="083C63"/>
                </a:solidFill>
                <a:latin typeface="Times New Roman"/>
                <a:ea typeface="宋体"/>
              </a:rPr>
              <a:t>第1章  </a:t>
            </a:r>
            <a:r>
              <a:rPr sz="1400" b="0" dirty="0" err="1">
                <a:solidFill>
                  <a:srgbClr val="083C63"/>
                </a:solidFill>
                <a:latin typeface="Times New Roman"/>
                <a:ea typeface="宋体"/>
              </a:rPr>
              <a:t>功能与亮点：工具能做什么、亮点在哪</a:t>
            </a:r>
            <a:endParaRPr sz="1400" b="0" dirty="0">
              <a:solidFill>
                <a:srgbClr val="083C63"/>
              </a:solidFill>
              <a:latin typeface="Times New Roman"/>
              <a:ea typeface="宋体"/>
            </a:endParaRPr>
          </a:p>
          <a:p>
            <a:pPr>
              <a:lnSpc>
                <a:spcPct val="140000"/>
              </a:lnSpc>
            </a:pPr>
            <a:r>
              <a:rPr sz="1400" b="0" dirty="0">
                <a:solidFill>
                  <a:srgbClr val="262626"/>
                </a:solidFill>
                <a:latin typeface="Times New Roman"/>
                <a:ea typeface="宋体"/>
              </a:rPr>
              <a:t>第2章  操作教学：5 </a:t>
            </a:r>
            <a:r>
              <a:rPr sz="1400" b="0" dirty="0" err="1">
                <a:solidFill>
                  <a:srgbClr val="262626"/>
                </a:solidFill>
                <a:latin typeface="Times New Roman"/>
                <a:ea typeface="宋体"/>
              </a:rPr>
              <a:t>步完成一次分析、界面导览</a:t>
            </a:r>
            <a:endParaRPr sz="1400" b="0" dirty="0">
              <a:solidFill>
                <a:srgbClr val="262626"/>
              </a:solidFill>
              <a:latin typeface="Times New Roman"/>
              <a:ea typeface="宋体"/>
            </a:endParaRPr>
          </a:p>
          <a:p>
            <a:pPr>
              <a:lnSpc>
                <a:spcPct val="140000"/>
              </a:lnSpc>
            </a:pPr>
            <a:r>
              <a:rPr sz="1400" b="0" dirty="0">
                <a:solidFill>
                  <a:srgbClr val="262626"/>
                </a:solidFill>
                <a:latin typeface="Times New Roman"/>
                <a:ea typeface="宋体"/>
              </a:rPr>
              <a:t>第3章  </a:t>
            </a:r>
            <a:r>
              <a:rPr sz="1400" b="0" dirty="0" err="1">
                <a:solidFill>
                  <a:srgbClr val="262626"/>
                </a:solidFill>
                <a:latin typeface="Times New Roman"/>
                <a:ea typeface="宋体"/>
              </a:rPr>
              <a:t>制程与口径：制程模板、UPH</a:t>
            </a:r>
            <a:r>
              <a:rPr sz="1400" b="0" dirty="0">
                <a:solidFill>
                  <a:srgbClr val="262626"/>
                </a:solidFill>
                <a:latin typeface="Times New Roman"/>
                <a:ea typeface="宋体"/>
              </a:rPr>
              <a:t>/EFF </a:t>
            </a:r>
            <a:r>
              <a:rPr sz="1400" b="0" dirty="0" err="1">
                <a:solidFill>
                  <a:srgbClr val="262626"/>
                </a:solidFill>
                <a:latin typeface="Times New Roman"/>
                <a:ea typeface="宋体"/>
              </a:rPr>
              <a:t>计算逻辑、步骤甘特图</a:t>
            </a:r>
            <a:endParaRPr sz="1400" b="0" dirty="0">
              <a:solidFill>
                <a:srgbClr val="262626"/>
              </a:solidFill>
              <a:latin typeface="Times New Roman"/>
              <a:ea typeface="宋体"/>
            </a:endParaRPr>
          </a:p>
          <a:p>
            <a:pPr>
              <a:lnSpc>
                <a:spcPct val="140000"/>
              </a:lnSpc>
            </a:pPr>
            <a:r>
              <a:rPr sz="1400" b="0" dirty="0">
                <a:solidFill>
                  <a:srgbClr val="262626"/>
                </a:solidFill>
                <a:latin typeface="Times New Roman"/>
                <a:ea typeface="宋体"/>
              </a:rPr>
              <a:t>第4章  </a:t>
            </a:r>
            <a:r>
              <a:rPr sz="1400" b="0" dirty="0" err="1">
                <a:solidFill>
                  <a:srgbClr val="262626"/>
                </a:solidFill>
                <a:latin typeface="Times New Roman"/>
                <a:ea typeface="宋体"/>
              </a:rPr>
              <a:t>输出与注意：Excel</a:t>
            </a:r>
            <a:r>
              <a:rPr sz="1400" b="0" dirty="0">
                <a:solidFill>
                  <a:srgbClr val="262626"/>
                </a:solidFill>
                <a:latin typeface="Times New Roman"/>
                <a:ea typeface="宋体"/>
              </a:rPr>
              <a:t>/PPT </a:t>
            </a:r>
            <a:r>
              <a:rPr sz="1400" b="0" dirty="0" err="1">
                <a:solidFill>
                  <a:srgbClr val="262626"/>
                </a:solidFill>
                <a:latin typeface="Times New Roman"/>
                <a:ea typeface="宋体"/>
              </a:rPr>
              <a:t>输出物、使用注意事项</a:t>
            </a:r>
            <a:endParaRPr sz="1400" b="0" dirty="0">
              <a:solidFill>
                <a:srgbClr val="262626"/>
              </a:solidFill>
              <a:latin typeface="Times New Roman"/>
              <a:ea typeface="宋体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2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第1章 功能与亮点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六大功能，覆盖日志分析的完整链路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566160" cy="2240280"/>
          </a:xfrm>
          <a:prstGeom prst="rect">
            <a:avLst/>
          </a:prstGeom>
          <a:solidFill>
            <a:srgbClr val="E7F1F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文档合并与内容拆分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按关键词 / 分隔符提取指定行，支持按 PLC 分组导出，异常行自动标红。</a:t>
            </a:r>
          </a:p>
        </p:txBody>
      </p:sp>
      <p:pic>
        <p:nvPicPr>
          <p:cNvPr id="6" name="Picture 5" descr="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402336" cy="402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34256" y="1600200"/>
            <a:ext cx="3566160" cy="2240280"/>
          </a:xfrm>
          <a:prstGeom prst="rect">
            <a:avLst/>
          </a:prstGeom>
          <a:solidFill>
            <a:srgbClr val="E0F2F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UPH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 CoreTech AME 口径输出实际 / Pure / Derated M1/M2 / 有效 UPH，自动判定瓶颈。</a:t>
            </a:r>
          </a:p>
        </p:txBody>
      </p:sp>
      <p:pic>
        <p:nvPicPr>
          <p:cNvPr id="8" name="Picture 7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728216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28431" y="1600200"/>
            <a:ext cx="3566160" cy="2240280"/>
          </a:xfrm>
          <a:prstGeom prst="rect">
            <a:avLst/>
          </a:prstGeom>
          <a:solidFill>
            <a:srgbClr val="E7F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EFF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操作时间 ÷ 计划生产时间；停机按 EReason 清单区分 pDT / uDT。</a:t>
            </a:r>
          </a:p>
        </p:txBody>
      </p:sp>
      <p:pic>
        <p:nvPicPr>
          <p:cNvPr id="10" name="Picture 9" descr="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728216"/>
            <a:ext cx="402336" cy="4023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023360"/>
            <a:ext cx="3566160" cy="2240280"/>
          </a:xfrm>
          <a:prstGeom prst="rect">
            <a:avLst/>
          </a:prstGeom>
          <a:solidFill>
            <a:srgbClr val="FBF2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报警分析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按关键词统计报警，EReason 中文名映射。</a:t>
            </a:r>
          </a:p>
        </p:txBody>
      </p:sp>
      <p:pic>
        <p:nvPicPr>
          <p:cNvPr id="12" name="Picture 11" descr="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151376"/>
            <a:ext cx="402336" cy="4023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34256" y="4023360"/>
            <a:ext cx="3566160" cy="2240280"/>
          </a:xfrm>
          <a:prstGeom prst="rect">
            <a:avLst/>
          </a:prstGeom>
          <a:solidFill>
            <a:srgbClr val="FAE7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机台状态分析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status 行或活动 / 停机关键词推导 RUN / IDLE / DOWN 时间线。</a:t>
            </a:r>
          </a:p>
        </p:txBody>
      </p:sp>
      <p:pic>
        <p:nvPicPr>
          <p:cNvPr id="14" name="Picture 13" descr="pul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4151376"/>
            <a:ext cx="402336" cy="4023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028431" y="4023360"/>
            <a:ext cx="3566160" cy="2240280"/>
          </a:xfrm>
          <a:prstGeom prst="rect">
            <a:avLst/>
          </a:prstGeom>
          <a:solidFill>
            <a:srgbClr val="EFE8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一键分析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一次运行完成全部功能，导出 4 个 Excel 并自动生成 PPT 报告。</a:t>
            </a:r>
          </a:p>
        </p:txBody>
      </p:sp>
      <p:pic>
        <p:nvPicPr>
          <p:cNvPr id="16" name="Picture 15" descr="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151376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3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第1章 功能与亮点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亮点：自动模板、瓶颈判定、换盘分摊、步骤甘特、异常标红、自动报告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566160" cy="2240280"/>
          </a:xfrm>
          <a:prstGeom prst="rect">
            <a:avLst/>
          </a:prstGeom>
          <a:solidFill>
            <a:srgbClr val="E7F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制程模板一键预填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选 LM / CAW / FR / SA / ACF，自动带入触发词、报警关键词与计算逻辑。</a:t>
            </a:r>
          </a:p>
        </p:txBody>
      </p:sp>
      <p:pic>
        <p:nvPicPr>
          <p:cNvPr id="6" name="Picture 5" descr="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402336" cy="402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34256" y="1600200"/>
            <a:ext cx="3566160" cy="2240280"/>
          </a:xfrm>
          <a:prstGeom prst="rect">
            <a:avLst/>
          </a:prstGeom>
          <a:solidFill>
            <a:srgbClr val="FBF2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瓶颈自动判定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SA 四工位、CAW 双机台自动取最慢环节，UPH 口径与客户定义一致。</a:t>
            </a:r>
          </a:p>
        </p:txBody>
      </p:sp>
      <p:pic>
        <p:nvPicPr>
          <p:cNvPr id="8" name="Picture 7" descr="bottle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728216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28431" y="1600200"/>
            <a:ext cx="3566160" cy="2240280"/>
          </a:xfrm>
          <a:prstGeom prst="rect">
            <a:avLst/>
          </a:prstGeom>
          <a:solidFill>
            <a:srgbClr val="FAE7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换盘时间平摊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整盘结束后的下料-上料时间按每盘颗数摊入单颗 CT。</a:t>
            </a:r>
          </a:p>
        </p:txBody>
      </p:sp>
      <p:pic>
        <p:nvPicPr>
          <p:cNvPr id="10" name="Picture 9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728216"/>
            <a:ext cx="402336" cy="4023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4023360"/>
            <a:ext cx="3566160" cy="2240280"/>
          </a:xfrm>
          <a:prstGeom prst="rect">
            <a:avLst/>
          </a:prstGeom>
          <a:solidFill>
            <a:srgbClr val="EFE8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步骤深度分析 + 甘特图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按轴 / 平台运动节拍拆步骤，Excel 甘特图直接看出先后与并行。</a:t>
            </a:r>
          </a:p>
        </p:txBody>
      </p:sp>
      <p:pic>
        <p:nvPicPr>
          <p:cNvPr id="12" name="Picture 11" descr="gant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151376"/>
            <a:ext cx="402336" cy="4023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34256" y="4023360"/>
            <a:ext cx="3566160" cy="2240280"/>
          </a:xfrm>
          <a:prstGeom prst="rect">
            <a:avLst/>
          </a:prstGeom>
          <a:solidFill>
            <a:srgbClr val="E7F1F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异常日志自动标红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报警 / 停机 / 步骤超时行标红，剔除产品码中的 NG 误报。</a:t>
            </a:r>
          </a:p>
        </p:txBody>
      </p:sp>
      <p:pic>
        <p:nvPicPr>
          <p:cNvPr id="14" name="Picture 13" descr="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4151376"/>
            <a:ext cx="402336" cy="4023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028431" y="4023360"/>
            <a:ext cx="3566160" cy="2240280"/>
          </a:xfrm>
          <a:prstGeom prst="rect">
            <a:avLst/>
          </a:prstGeom>
          <a:solidFill>
            <a:srgbClr val="E0F2F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自动 PPT 报告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汇总 + 图表 + 瓶颈工序甘特图，时间格式统一、可编辑。</a:t>
            </a:r>
          </a:p>
        </p:txBody>
      </p:sp>
      <p:pic>
        <p:nvPicPr>
          <p:cNvPr id="16" name="Picture 15" descr="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151376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4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第2章 操作教学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5 步完成一次机台日志分析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1 选择源文件夹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1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机台日志所在目录，支持子文件夹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674620"/>
            <a:ext cx="3657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2944368" y="261061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62656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2 选择输出文件夹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Excel / PPT 报告输出位置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56048" y="2674620"/>
            <a:ext cx="3657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5266944" y="261061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85232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3 选择制程模板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自动预填 UPH 触发词、报警关键词等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78624" y="2674620"/>
            <a:ext cx="3657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7589520" y="261061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07808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4 选择功能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合并 / UPH / EFF / 报警 / 状态 / 一键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0" y="2674620"/>
            <a:ext cx="3657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9912096" y="2610612"/>
            <a:ext cx="128016" cy="128016"/>
          </a:xfrm>
          <a:prstGeom prst="triangle">
            <a:avLst/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30384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083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28016" bIns="54864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Times New Roman"/>
                <a:ea typeface="宋体"/>
              </a:rPr>
              <a:t>5 自动报告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3566160"/>
            <a:ext cx="23225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界面显示结果，并导出 Excel / PPT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10972800" cy="1417320"/>
          </a:xfrm>
          <a:prstGeom prst="rect">
            <a:avLst/>
          </a:prstGeom>
          <a:solidFill>
            <a:srgbClr val="E7F1F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操作小贴士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3892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· 日志文件筛选框会自动填充与制程匹配的内容，有特殊需求可手动输入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· 制程模板会自动预填 UPH 触发词、报警关键词、制程名称（原因清单）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· 一键分析 = 合并拆分 + UPH + EFF + 报警 + 机台状态，一次全部完成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5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5" y="863055"/>
            <a:ext cx="8929906" cy="53748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第2章 操作教学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界面一看就懂：左边选功能，右边筛日志，下方看结果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6 / 13</a:t>
            </a:r>
          </a:p>
        </p:txBody>
      </p:sp>
      <p:cxnSp>
        <p:nvCxnSpPr>
          <p:cNvPr id="22" name="直線單箭頭接點 21"/>
          <p:cNvCxnSpPr/>
          <p:nvPr/>
        </p:nvCxnSpPr>
        <p:spPr>
          <a:xfrm flipH="1">
            <a:off x="2207172" y="1280160"/>
            <a:ext cx="399394" cy="285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H="1">
            <a:off x="2406869" y="1639244"/>
            <a:ext cx="399394" cy="285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H="1">
            <a:off x="9342306" y="3550473"/>
            <a:ext cx="399394" cy="285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H="1">
            <a:off x="9342306" y="3836354"/>
            <a:ext cx="399394" cy="285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H="1">
            <a:off x="1475313" y="4202115"/>
            <a:ext cx="399394" cy="285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9737023" y="330934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9737023" y="365168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2606566" y="106527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2790159" y="14179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31" name="文字方塊 30"/>
          <p:cNvSpPr txBox="1"/>
          <p:nvPr/>
        </p:nvSpPr>
        <p:spPr>
          <a:xfrm>
            <a:off x="1791674" y="393756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第3章 制程与口径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五种制程模板，参数与算法已按机台配好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制程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周期完成事件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结构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UPH 口径要点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LM 激光打标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MarkEnd1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单机台；每盘 4 批 × 6 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换盘时间按 24 颗平摊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CAW 组装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放熟料完成 / 去交换位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PLC1 焊接机 + PLC2 上料机（左右并行）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双机台瓶颈，取 CT 长者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FR 点胶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轴点胶完成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左轴 / 右轴并行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Pure UPH ×0.5（单轴）；整机 M1/M2 = 左 + 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SA 四工位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各工位完成事件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点胶 / 贴附 / 热压 / 检测并行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自动判定瓶颈工位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ACF 三機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更新Carrier盘 / Cavity cnt:1 / UnloadDuts Finish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上料機 / 主機 / 下料機 分文件夹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每盘颗数按 Tray ID 动态统计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另有“通用（手动配置）”与“自定义”模板，不套用固定逻辑。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7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第3章 制程与口径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UPH 口径：实际、Pure、Derated M1/M2 与有效 UPH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实际 UPH = 产出数 ÷ 统计时长 × 3600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37944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按真实产出与统计时长计算。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331720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404872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Pure UPH = 3600 × 每周期产出 ÷ 理想周期CT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5496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未填理想 CT 时取正常周期平均。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319272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392424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Derated UPH M2 = 3600 × 每周期产出 ÷ 有效平均周期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13048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剔除 &lt;0.9×理想CT、&gt;1.1×最大理论CT 的离群点；多模组整机 = 各模组 M2 之和。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06824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379976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Derated UPH M1 = EM 投入数 ÷ RUN 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多模组整机 = 各模组 M1 之和。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5294376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3675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有效 UPH = 3600 × 每周期产出 ÷（基础周期 + 每颗换盘开销）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88152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每颗换盘开销 = 单次换盘时间 ÷ 每盘颗数。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281928"/>
            <a:ext cx="630936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373368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周期分类：间隔 &gt; 计划性停机阈值 → 计划性停机；&gt; 正常周期阈值 → 异常周期；其余为正常周期。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554480"/>
            <a:ext cx="4297680" cy="4480560"/>
          </a:xfrm>
          <a:prstGeom prst="rect">
            <a:avLst/>
          </a:prstGeom>
          <a:solidFill>
            <a:srgbClr val="FBF2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换盘时间分摊示例（LM）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331720"/>
            <a:ext cx="379476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单次换盘（下料 → 新盘上料）：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15.46 秒</a:t>
            </a:r>
          </a:p>
          <a:p>
            <a:pPr algn="l">
              <a:lnSpc>
                <a:spcPct val="135000"/>
              </a:lnSpc>
            </a:pPr>
            <a:endParaRPr sz="1400" b="0">
              <a:solidFill>
                <a:srgbClr val="525F6F"/>
              </a:solidFill>
              <a:latin typeface="Times New Roman"/>
              <a:ea typeface="宋体"/>
            </a:endParaRP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每盘颗数：24 颗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每颗换盘开销：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15.46 ÷ 24 ≈ 0.64 秒</a:t>
            </a:r>
          </a:p>
          <a:p>
            <a:pPr algn="l">
              <a:lnSpc>
                <a:spcPct val="135000"/>
              </a:lnSpc>
            </a:pPr>
            <a:endParaRPr sz="1400" b="0">
              <a:solidFill>
                <a:srgbClr val="525F6F"/>
              </a:solidFill>
              <a:latin typeface="Times New Roman"/>
              <a:ea typeface="宋体"/>
            </a:endParaRP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有效周期 = 1.65 + 0.64 ≈ 2.29 秒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Pure UPH ≈ 1570 / 小时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8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第3章 制程与口径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步骤拆到运动节拍，甘特图一眼看出先后与并行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577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步骤按轴 / 平台运动节拍拆分，例如 LM 单颗循环：</a:t>
            </a:r>
          </a:p>
          <a:p>
            <a:pPr algn="l">
              <a:lnSpc>
                <a:spcPct val="140000"/>
              </a:lnSpc>
            </a:pPr>
            <a:endParaRPr sz="1400" b="0">
              <a:solidFill>
                <a:srgbClr val="595959"/>
              </a:solidFill>
              <a:latin typeface="Times New Roman"/>
              <a:ea typeface="宋体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打标前间隔 → Z 轴焦距定位 → 激光打标（振镜扫描）</a:t>
            </a:r>
          </a:p>
          <a:p>
            <a:pPr algn="l">
              <a:lnSpc>
                <a:spcPct val="140000"/>
              </a:lnSpc>
            </a:pPr>
            <a:endParaRPr sz="1400" b="0">
              <a:solidFill>
                <a:srgbClr val="595959"/>
              </a:solidFill>
              <a:latin typeface="Times New Roman"/>
              <a:ea typeface="宋体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批次级：读码 GetSN、CCD 轴移动定位（每批 6 颗）</a:t>
            </a:r>
          </a:p>
          <a:p>
            <a:pPr algn="l">
              <a:lnSpc>
                <a:spcPct val="140000"/>
              </a:lnSpc>
            </a:pPr>
            <a:endParaRPr sz="1400" b="0">
              <a:solidFill>
                <a:srgbClr val="595959"/>
              </a:solidFill>
              <a:latin typeface="Times New Roman"/>
              <a:ea typeface="宋体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盘级：平台下料、平台上料（每盘 24 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5577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异常判定 = 中位时长 + 超时秒数；超时 / 报警 / 停机行在日志 Excel 中自动标红。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8978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甘特示例：来自工具对 LM 示例日志的分析输出（示意）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9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第3章 制程与口径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EFF、状态与报警：三张表讲清设备效率与异常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3566160" cy="2651760"/>
          </a:xfrm>
          <a:prstGeom prst="rect">
            <a:avLst/>
          </a:prstGeom>
          <a:solidFill>
            <a:srgbClr val="FAE7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EFF 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EFF = 操作时间（运行 + 待机）÷ 计划生产时间；停机按 ReasonID 拆 pDT / uDT（EReason 清单优先）。</a:t>
            </a:r>
          </a:p>
        </p:txBody>
      </p:sp>
      <p:pic>
        <p:nvPicPr>
          <p:cNvPr id="6" name="Picture 5" descr="per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402336" cy="402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34256" y="1600200"/>
            <a:ext cx="3566160" cy="2651760"/>
          </a:xfrm>
          <a:prstGeom prst="rect">
            <a:avLst/>
          </a:prstGeom>
          <a:solidFill>
            <a:srgbClr val="EFE8F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机台状态分析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优先读 status:RUN/IDLE/DOWN 行；无 status 时按“活动 + 停机关键词”推导时间线，输出各状态时长 / 占比 / 小时分布。</a:t>
            </a:r>
          </a:p>
        </p:txBody>
      </p:sp>
      <p:pic>
        <p:nvPicPr>
          <p:cNvPr id="8" name="Picture 7" descr="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728216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28431" y="1600200"/>
            <a:ext cx="3566160" cy="2651760"/>
          </a:xfrm>
          <a:prstGeom prst="rect">
            <a:avLst/>
          </a:prstGeom>
          <a:solidFill>
            <a:srgbClr val="E7F1F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报警分析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按关键词命中计数，按机台 / 模组汇总；EReason 清单映射中文原因名称。</a:t>
            </a:r>
          </a:p>
        </p:txBody>
      </p:sp>
      <p:pic>
        <p:nvPicPr>
          <p:cNvPr id="10" name="Picture 9" descr="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728216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停机分类：EReason 清单中的计划停机（Planned / Routine）计入 pDT，其余计入 uDT；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未填计划停机 ReasonID 时，全部停机计入可用性损失。</a:t>
            </a:r>
          </a:p>
          <a:p>
            <a:pPr algn="l">
              <a:lnSpc>
                <a:spcPct val="150000"/>
              </a:lnSpc>
            </a:pPr>
            <a:endParaRPr sz="1400" b="0">
              <a:solidFill>
                <a:srgbClr val="595959"/>
              </a:solidFill>
              <a:latin typeface="Times New Roman"/>
              <a:ea typeface="宋体"/>
            </a:endParaRP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状态推导：优先识别日志中的 status:RUN / IDLE / DOWN 行；无 status 行时按活动与停机关键词推导时间线。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10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第4章 输出与注意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一次分析，输出可编辑的 Excel 与 PPT 报告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文件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  <a:ea typeface="宋体"/>
                        </a:rPr>
                        <a:t>内容</a:t>
                      </a:r>
                    </a:p>
                  </a:txBody>
                  <a:tcPr anchor="ctr">
                    <a:solidFill>
                      <a:srgbClr val="083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UPH_Analysis.xlsx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Summary / AMESummary / CycleDetail / EMProduction / 步骤分析 / 步骤甘特图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EFF_Analysis.xlsx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EFF 汇总与停机 Pareto（含 pDT / uDT）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Alarm_Analysis.xlsx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报警汇总、关键词分布、明细（EReason 中文名）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Status_Analysis.xlsx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状态汇总与小时分布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LogAnalysis.xlsx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合并日志（异常行标红）；大文件按日志逐个导出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Analysis_Report.pptx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262626"/>
                          </a:solidFill>
                          <a:latin typeface="Times New Roman"/>
                          <a:ea typeface="宋体"/>
                        </a:rPr>
                        <a:t>自动报告：UPH / EFF / 停机 Pareto / 报警 / 状态 + 瓶颈工序甘特图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00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Times New Roman"/>
                <a:ea typeface="宋体"/>
              </a:rPr>
              <a:t>时间格式约定：低于 60 秒按秒显示，超过 60 秒按 h:mm:ss；PPT 汇总时间显示到秒。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11 /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216" y="228600"/>
            <a:ext cx="10972800" cy="1051560"/>
          </a:xfrm>
        </p:spPr>
        <p:txBody>
          <a:bodyPr/>
          <a:lstStyle/>
          <a:p>
            <a:r>
              <a:rPr sz="1400" b="1" dirty="0">
                <a:solidFill>
                  <a:srgbClr val="EF5149"/>
                </a:solidFill>
                <a:latin typeface="Times New Roman"/>
                <a:ea typeface="宋体"/>
              </a:rPr>
              <a:t>第4章 输出与注意</a:t>
            </a:r>
          </a:p>
          <a:p>
            <a:pPr>
              <a:spcBef>
                <a:spcPts val="200"/>
              </a:spcBef>
            </a:pPr>
            <a:r>
              <a:rPr sz="2400" b="1" dirty="0">
                <a:solidFill>
                  <a:srgbClr val="083C63"/>
                </a:solidFill>
                <a:latin typeface="Times New Roman"/>
                <a:ea typeface="宋体"/>
              </a:rPr>
              <a:t>使用前注意这几点，避免踩坑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40680" cy="2240280"/>
          </a:xfrm>
          <a:prstGeom prst="rect">
            <a:avLst/>
          </a:prstGeom>
          <a:solidFill>
            <a:srgbClr val="E0F2F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大日志保护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原始日志超过约 100 万行时，自动放弃合并、按日志文件逐个导出 Excel，避免卡死。</a:t>
            </a:r>
          </a:p>
        </p:txBody>
      </p:sp>
      <p:pic>
        <p:nvPicPr>
          <p:cNvPr id="6" name="Picture 5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28216"/>
            <a:ext cx="402336" cy="4023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08776" y="1600200"/>
            <a:ext cx="5440680" cy="2240280"/>
          </a:xfrm>
          <a:prstGeom prst="rect">
            <a:avLst/>
          </a:prstGeom>
          <a:solidFill>
            <a:srgbClr val="E7F3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EReasonlist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根目录保留 EReasonlist 文件夹，新制程按文件名放入自己的清单，用于状态推导与报警映射。</a:t>
            </a:r>
          </a:p>
        </p:txBody>
      </p:sp>
      <p:pic>
        <p:nvPicPr>
          <p:cNvPr id="8" name="Picture 7" descr="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728216"/>
            <a:ext cx="402336" cy="402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4023360"/>
            <a:ext cx="5440680" cy="2240280"/>
          </a:xfrm>
          <a:prstGeom prst="rect">
            <a:avLst/>
          </a:prstGeom>
          <a:solidFill>
            <a:srgbClr val="FBF2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PPT 模板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Analysis_Report.pptx 放到程序同目录即可正常生成报告；模板含内部数据，仅限内部传送。</a:t>
            </a:r>
          </a:p>
        </p:txBody>
      </p:sp>
      <p:pic>
        <p:nvPicPr>
          <p:cNvPr id="10" name="Picture 9" descr="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51376"/>
            <a:ext cx="402336" cy="4023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08776" y="4023360"/>
            <a:ext cx="5440680" cy="2240280"/>
          </a:xfrm>
          <a:prstGeom prst="rect">
            <a:avLst/>
          </a:prstGeom>
          <a:solidFill>
            <a:srgbClr val="FAE7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3504" tIns="54864" rIns="128016" bIns="54864" rtlCol="0" anchor="t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3B4E"/>
                </a:solidFill>
                <a:latin typeface="Times New Roman"/>
                <a:ea typeface="宋体"/>
              </a:rPr>
              <a:t>灵活覆盖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25F6F"/>
                </a:solidFill>
                <a:latin typeface="Times New Roman"/>
                <a:ea typeface="宋体"/>
              </a:rPr>
              <a:t>日志文件筛选框自动填充与制程匹配的内容，用户有特殊需求可手动输入。</a:t>
            </a:r>
          </a:p>
        </p:txBody>
      </p:sp>
      <p:pic>
        <p:nvPicPr>
          <p:cNvPr id="12" name="Picture 11" descr="sett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4151376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3774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F5149"/>
                </a:solidFill>
                <a:latin typeface="Times New Roman"/>
                <a:ea typeface="宋体"/>
              </a:rPr>
              <a:t>现在就可以开始第一次分析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520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83C63"/>
                </a:solidFill>
                <a:latin typeface="Times New Roman"/>
                <a:ea typeface="宋体"/>
              </a:rPr>
              <a:t>选日志文件夹 → 选制程模板 → 点“自动报告”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4206240"/>
            <a:ext cx="3108960" cy="0"/>
          </a:xfrm>
          <a:prstGeom prst="line">
            <a:avLst/>
          </a:prstGeom>
          <a:ln w="25400">
            <a:solidFill>
              <a:srgbClr val="083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41248" y="4480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95959"/>
                </a:solidFill>
                <a:latin typeface="Times New Roman"/>
                <a:ea typeface="宋体"/>
              </a:rPr>
              <a:t>功能与亮点  ·  操作教学  ·  制程与口径  ·  输出与注意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80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Times New Roman"/>
                <a:ea typeface="宋体"/>
              </a:rPr>
              <a:t>v1.0  ·  内部使用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46520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083C63"/>
                </a:solidFill>
                <a:latin typeface="Times New Roman"/>
                <a:ea typeface="宋体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鴻海集團簡報版型(海外地區)_2026_light mode" id="{260A4B3F-8F55-4B51-A142-E39C2B8E68DE}" vid="{1B6ED2A5-75C5-42C7-89B7-CD8F44C23D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4a0fd3-5ab2-4644-a33f-a088ed12cd6e">
      <UserInfo>
        <DisplayName>Miffy Wang (王鈴慧)</DisplayName>
        <AccountId>154</AccountId>
        <AccountType/>
      </UserInfo>
      <UserInfo>
        <DisplayName>Hans (TestWVD)</DisplayName>
        <AccountId>8125</AccountId>
        <AccountType/>
      </UserInfo>
      <UserInfo>
        <DisplayName>Mago Lin(林瑞芳)</DisplayName>
        <AccountId>826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1D48CF5C71C4B901469497BE97C95" ma:contentTypeVersion="6" ma:contentTypeDescription="Create a new document." ma:contentTypeScope="" ma:versionID="96b99486762059597dc29f6c66745e58">
  <xsd:schema xmlns:xsd="http://www.w3.org/2001/XMLSchema" xmlns:xs="http://www.w3.org/2001/XMLSchema" xmlns:p="http://schemas.microsoft.com/office/2006/metadata/properties" xmlns:ns2="8c574a9d-dc0a-44db-b9dd-00599ad78b7c" xmlns:ns3="734a0fd3-5ab2-4644-a33f-a088ed12cd6e" targetNamespace="http://schemas.microsoft.com/office/2006/metadata/properties" ma:root="true" ma:fieldsID="213c8db7c41208b185c321c03d4217c0" ns2:_="" ns3:_="">
    <xsd:import namespace="8c574a9d-dc0a-44db-b9dd-00599ad78b7c"/>
    <xsd:import namespace="734a0fd3-5ab2-4644-a33f-a088ed12cd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74a9d-dc0a-44db-b9dd-00599ad78b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a0fd3-5ab2-4644-a33f-a088ed12cd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C0F7E1-9319-452E-8E07-45B1E0A0FBE0}">
  <ds:schemaRefs>
    <ds:schemaRef ds:uri="http://purl.org/dc/dcmitype/"/>
    <ds:schemaRef ds:uri="734a0fd3-5ab2-4644-a33f-a088ed12cd6e"/>
    <ds:schemaRef ds:uri="http://purl.org/dc/elements/1.1/"/>
    <ds:schemaRef ds:uri="8c574a9d-dc0a-44db-b9dd-00599ad78b7c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830EA8A-6558-4099-9001-B5EE08A092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574a9d-dc0a-44db-b9dd-00599ad78b7c"/>
    <ds:schemaRef ds:uri="734a0fd3-5ab2-4644-a33f-a088ed12cd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1_Hon Hai Technology Group Presentation Template (Worldwide)_202601_light_ mode</Template>
  <TotalTime>220</TotalTime>
  <Words>904</Words>
  <Application>Microsoft Office PowerPoint</Application>
  <PresentationFormat>寬螢幕</PresentationFormat>
  <Paragraphs>177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4" baseType="lpstr">
      <vt:lpstr>Microsoft YaHei</vt:lpstr>
      <vt:lpstr>宋体</vt:lpstr>
      <vt:lpstr>Microsoft JhengHei</vt:lpstr>
      <vt:lpstr>Microsoft JhengHei</vt:lpstr>
      <vt:lpstr>新細明體</vt:lpstr>
      <vt:lpstr>Arial</vt:lpstr>
      <vt:lpstr>Calibri</vt:lpstr>
      <vt:lpstr>Tahoma</vt:lpstr>
      <vt:lpstr>Times New Roman</vt:lpstr>
      <vt:lpstr>Wingdings</vt:lpstr>
      <vt:lpstr>2_Office 佈景主題</vt:lpstr>
      <vt:lpstr>PowerPoint 簡報</vt:lpstr>
      <vt:lpstr>目录</vt:lpstr>
      <vt:lpstr>第1章 功能与亮点 六大功能，覆盖日志分析的完整链路</vt:lpstr>
      <vt:lpstr>第1章 功能与亮点 亮点：自动模板、瓶颈判定、换盘分摊、步骤甘特、异常标红、自动报告</vt:lpstr>
      <vt:lpstr>第2章 操作教学 5 步完成一次机台日志分析</vt:lpstr>
      <vt:lpstr>第2章 操作教学 界面一看就懂：左边选功能，右边筛日志，下方看结果</vt:lpstr>
      <vt:lpstr>第3章 制程与口径 五种制程模板，参数与算法已按机台配好</vt:lpstr>
      <vt:lpstr>第3章 制程与口径 UPH 口径：实际、Pure、Derated M1/M2 与有效 UPH</vt:lpstr>
      <vt:lpstr>第3章 制程与口径 步骤拆到运动节拍，甘特图一眼看出先后与并行</vt:lpstr>
      <vt:lpstr>第3章 制程与口径 EFF、状态与报警：三张表讲清设备效率与异常</vt:lpstr>
      <vt:lpstr>第4章 输出与注意 一次分析，输出可编辑的 Excel 与 PPT 报告</vt:lpstr>
      <vt:lpstr>第4章 输出与注意 使用前注意这几点，避免踩坑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龍天紅</dc:creator>
  <cp:lastModifiedBy>龍天紅</cp:lastModifiedBy>
  <cp:revision>10</cp:revision>
  <dcterms:created xsi:type="dcterms:W3CDTF">2026-03-28T02:35:04Z</dcterms:created>
  <dcterms:modified xsi:type="dcterms:W3CDTF">2026-08-08T01:27:39Z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0x010100C1B1D48CF5C71C4B901469497BE97C95</vt:lpwstr>
  </property>
  <property fmtid="{D5CDD505-2E9C-101B-9397-08002B2CF9AE}" pid="4" name="MediaServiceImageTags">
    <vt:lpwstr/>
  </property>
</Properties>
</file>