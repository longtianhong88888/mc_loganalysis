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057400"/>
            <a:ext cx="10149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F4E79"/>
                </a:solidFill>
                <a:latin typeface="Times New Roman"/>
                <a:ea typeface="宋体"/>
              </a:rPr>
              <a:t>MC Log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06324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95959"/>
                </a:solidFill>
                <a:latin typeface="Times New Roman"/>
                <a:ea typeface="宋体"/>
              </a:rPr>
              <a:t>机台日志分析工具 · 使用说明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24128" y="3794760"/>
            <a:ext cx="329184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24128" y="4069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61264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一个工具，完成机台日志的六类分析与报告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2 / 13   ·   v1.0 内部使用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344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把机台日志的“读、算、查、报”一次做完：选择日志文件夹与制程，一键输出 Excel 与 PPT 报告。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48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F4E79"/>
                </a:solidFill>
                <a:latin typeface="Times New Roman"/>
                <a:ea typeface="宋体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154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Times New Roman"/>
                <a:ea typeface="宋体"/>
              </a:rPr>
              <a:t>类分析功能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611880"/>
            <a:ext cx="3337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合并拆分 · UPH · EFF · 报警 · 状态 · 一键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6512" y="2286000"/>
            <a:ext cx="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16552" y="2148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F4E79"/>
                </a:solidFill>
                <a:latin typeface="Times New Roman"/>
                <a:ea typeface="宋体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3154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Times New Roman"/>
                <a:ea typeface="宋体"/>
              </a:rPr>
              <a:t>种制程模板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3611880"/>
            <a:ext cx="3337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LM / CAW / FR / SA / ACF，参数自动预填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99832" y="2286000"/>
            <a:ext cx="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19871" y="2148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F4E79"/>
                </a:solidFill>
                <a:latin typeface="Times New Roman"/>
                <a:ea typeface="宋体"/>
              </a:rPr>
              <a:t>4+1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3154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Times New Roman"/>
                <a:ea typeface="宋体"/>
              </a:rPr>
              <a:t>类输出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3611880"/>
            <a:ext cx="3337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UPH / EFF / 报警 / 状态 Excel + 自动 PPT 报告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074920"/>
            <a:ext cx="10762488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支持“一键分析”：一次运行完成全部功能，结果在界面显示，并自动导出 4 个分析 Excel 与 PPT 报告。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六大功能，覆盖日志分析的完整链路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3 / 13   ·   v1.0 内部使用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71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文档合并与内容拆分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按关键词 / 分隔符提取指定行，支持按 PLC 分组导出，异常行自动标红。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52544" y="1371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UPH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 CoreTech AME 口径输出实际 / Pure / Derated M1/M2 / 有效 UPH，自动判定瓶颈。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1856" y="1371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操作时间 ÷ 计划生产时间；停机按 EReason 清单区分 pDT / uDT。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657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按关键词统计报警，EReason 中文名映射。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3657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status 行或活动 / 停机关键词推导 RUN / IDLE / DOWN 时间线。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1856" y="3657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一键分析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一次运行完成全部功能，导出 4 个 Excel 并自动生成 PPT 报告。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亮点：自动模板、瓶颈判定、换盘分摊、步骤甘特、异常标红、自动报告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4 / 13   ·   v1.0 内部使用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71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制程模板一键预填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选 LM / CAW / FR / SA / ACF，自动带入触发词、报警关键词与计算逻辑。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52544" y="1371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瓶颈自动判定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SA 四工位、CAW 双机台自动取最慢环节，UPH 口径与客户定义一致。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1856" y="1371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换盘时间平摊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整盘结束后的下料-上料时间按每盘颗数摊入单颗 CT。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657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步骤深度分析 + 甘特图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按轴 / 平台运动节拍拆步骤，Excel 甘特图直接看出先后与并行。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3657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异常日志自动标红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报警 / 停机 / 步骤超时行标红，剔除产品码中的 NG 误报。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1856" y="3657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自动 PPT 报告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汇总 + 图表 + 瓶颈工序甘特图，时间格式统一、可编辑。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5 步完成一次机台日志分析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5 / 13   ·   v1.0 内部使用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28800"/>
            <a:ext cx="1938528" cy="1051560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1 选择源文件夹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44952"/>
            <a:ext cx="20848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机台日志所在目录，支持子文件夹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354580"/>
            <a:ext cx="438912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 rot="5400000">
            <a:off x="3017520" y="2290572"/>
            <a:ext cx="128016" cy="128016"/>
          </a:xfrm>
          <a:prstGeom prst="triangl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35808" y="1828800"/>
            <a:ext cx="1938528" cy="1051560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2 选择输出文件夹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2656" y="3044952"/>
            <a:ext cx="20848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Excel / PPT 报告输出位置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56048" y="2354580"/>
            <a:ext cx="438912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5340096" y="2290572"/>
            <a:ext cx="128016" cy="128016"/>
          </a:xfrm>
          <a:prstGeom prst="triangl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58384" y="1828800"/>
            <a:ext cx="1938528" cy="1051560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3 选择制程模板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5232" y="3044952"/>
            <a:ext cx="20848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自动预填 UPH 触发词、报警关键词等参数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78624" y="2354580"/>
            <a:ext cx="438912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7662672" y="2290572"/>
            <a:ext cx="128016" cy="128016"/>
          </a:xfrm>
          <a:prstGeom prst="triangl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1828800"/>
            <a:ext cx="1938528" cy="1051560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4 选择功能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3044952"/>
            <a:ext cx="20848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合并 / UPH / EFF / 报警 / 状态 / 一键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0" y="2354580"/>
            <a:ext cx="438912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9985248" y="2290572"/>
            <a:ext cx="128016" cy="128016"/>
          </a:xfrm>
          <a:prstGeom prst="triangl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3536" y="1828800"/>
            <a:ext cx="1938528" cy="1051560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5 自动报告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0384" y="3044952"/>
            <a:ext cx="20848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界面显示结果，并导出 Excel /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120640"/>
            <a:ext cx="1076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提示：日志文件筛选框会自动填充与制程匹配的内容，有特殊需求也可手动输入。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界面一看就懂：左边选功能，右边筛日志，下方看结果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6 / 13   ·   v1.0 内部使用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430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界面示意（非截图）：三块区域各司其职。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737360"/>
            <a:ext cx="2651760" cy="3977639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功能选择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文档合并与内容拆分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UPH 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7355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EFF 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报警分析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34256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机台状态分析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646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一键分析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84448" y="1737360"/>
            <a:ext cx="7891272" cy="2377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制程模板 · 日志文件筛选 · 解析参数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33172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Times New Roman"/>
                <a:ea typeface="宋体"/>
              </a:rPr>
              <a:t>制程下拉：LM / CAW / FR / SA / ACF / 通用 / 自定义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278892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Times New Roman"/>
                <a:ea typeface="宋体"/>
              </a:rPr>
              <a:t>日志文件筛选：自动填充与制程匹配的内容，可手动修改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24612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0000"/>
                </a:solidFill>
                <a:latin typeface="Times New Roman"/>
                <a:ea typeface="宋体"/>
              </a:rPr>
              <a:t>解析参数：关键词、分隔符（默认左对齐）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84448" y="4343400"/>
            <a:ext cx="789127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解析结果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89204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分析结果表格与进度显示；顶部“使用说明”按钮可查看各制程说明与计算逻辑，右下角为版权信息。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五种制程模板，参数与算法已按机台配好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7 / 13   ·   v1.0 内部使用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463040"/>
          <a:ext cx="10762488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017520"/>
                <a:gridCol w="3200400"/>
                <a:gridCol w="2624328"/>
              </a:tblGrid>
              <a:tr h="41452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4E79"/>
                          </a:solidFill>
                          <a:latin typeface="Times New Roman"/>
                          <a:ea typeface="宋体"/>
                        </a:rPr>
                        <a:t>制程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4E79"/>
                          </a:solidFill>
                          <a:latin typeface="Times New Roman"/>
                          <a:ea typeface="宋体"/>
                        </a:rPr>
                        <a:t>周期完成事件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4E79"/>
                          </a:solidFill>
                          <a:latin typeface="Times New Roman"/>
                          <a:ea typeface="宋体"/>
                        </a:rPr>
                        <a:t>结构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4E79"/>
                          </a:solidFill>
                          <a:latin typeface="Times New Roman"/>
                          <a:ea typeface="宋体"/>
                        </a:rPr>
                        <a:t>UPH 口径要点</a:t>
                      </a:r>
                    </a:p>
                  </a:txBody>
                  <a:tcPr anchor="ctr"/>
                </a:tc>
              </a:tr>
              <a:tr h="4145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LM 激光打标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MarkEnd1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单机台；每盘 4 批 × 6 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换盘时间按 24 颗平摊</a:t>
                      </a:r>
                    </a:p>
                  </a:txBody>
                  <a:tcPr anchor="ctr"/>
                </a:tc>
              </a:tr>
              <a:tr h="4145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CAW 组装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放熟料完成 / 去交换位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PLC1 焊接机 + PLC2 上料机（左右并行）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双机台瓶颈，取 CT 长者</a:t>
                      </a:r>
                    </a:p>
                  </a:txBody>
                  <a:tcPr anchor="ctr"/>
                </a:tc>
              </a:tr>
              <a:tr h="4145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FR 点胶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轴点胶完成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左轴 / 右轴并行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Pure UPH ×0.5（单轴）；整机 M1/M2 = 左 + 右</a:t>
                      </a:r>
                    </a:p>
                  </a:txBody>
                  <a:tcPr anchor="ctr"/>
                </a:tc>
              </a:tr>
              <a:tr h="4145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SA 四工位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各工位完成事件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点胶 / 贴附 / 热压 / 检测并行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自动判定瓶颈工位</a:t>
                      </a:r>
                    </a:p>
                  </a:txBody>
                  <a:tcPr anchor="ctr"/>
                </a:tc>
              </a:tr>
              <a:tr h="4145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ACF 三機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更新Carrier盘 / Cavity cnt:1 / UnloadDuts Finish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上料機 / 主機 / 下料機 分文件夹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每盘颗数按 Tray ID 动态统计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5989320"/>
            <a:ext cx="10762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另有“通用（手动配置）”与“自定义”模板，不套用固定逻辑。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UPH 口径：实际、Pure、Derated M1/M2 与有效 UPH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8 / 13   ·   v1.0 内部使用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107624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实际 UPH = 产出数 ÷ 统计时长 × 3600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01368"/>
            <a:ext cx="1076248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按真实产出与统计时长计算。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13232" y="2212848"/>
            <a:ext cx="10762487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377440"/>
            <a:ext cx="107624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Pure UPH = 3600 × 每周期产出 ÷ 理想周期CT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761488"/>
            <a:ext cx="1076248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未填理想 CT 时取正常周期平均。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3172968"/>
            <a:ext cx="10762487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3337560"/>
            <a:ext cx="107624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Derated UPH M2 = 3600 × 每周期产出 ÷ 有效平均周期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721608"/>
            <a:ext cx="1076248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剔除 &lt;0.9×理想CT、&gt;1.1×最大理论CT 的离群点；多模组整机 = 各模组 M2 之和。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4133088"/>
            <a:ext cx="10762487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4297680"/>
            <a:ext cx="107624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Derated UPH M1 = EM 投入数 ÷ RUN 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681728"/>
            <a:ext cx="1076248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多模组整机 = 各模组 M1 之和。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093208"/>
            <a:ext cx="10762487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5257800"/>
            <a:ext cx="107624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有效 UPH = 3600 × 每周期产出 ÷（基础周期 + 每颗换盘开销）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641848"/>
            <a:ext cx="1076248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每颗换盘开销 = 单次换盘时间 ÷ 每盘颗数。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6053328"/>
            <a:ext cx="10762487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626364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周期分类：间隔 &gt; 计划性停机阈值 → 计划性停机；&gt; 正常周期阈值 → 异常周期；其余为正常周期。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步骤拆到运动节拍，甘特图一眼看出先后与并行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9 / 13   ·   v1.0 内部使用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每个区块的步骤时间总和 ≈ CT（周期中位）。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91640"/>
            <a:ext cx="4754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步骤按轴 / 平台运动节拍拆分，例如 LM 单颗循环：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打标前间隔 → Z 轴焦距定位 → 激光打标（振镜扫描）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批次级：读码 GetSN、CCD 轴移动定位（每批 6 颗）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盘级：平台下料、平台上料（每盘 24 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异常判定 = 中位时长 + 超时秒数；超时/报警/停机行在日志 Excel 中自动标红。</a:t>
            </a:r>
          </a:p>
        </p:txBody>
      </p:sp>
      <p:pic>
        <p:nvPicPr>
          <p:cNvPr id="8" name="Picture 7" descr="gantt_example_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234440"/>
            <a:ext cx="5943600" cy="12045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15000" y="580644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甘特示例：来自工具对 LM 示例日志的分析输出（示意）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EFF、状态与报警：三张表讲清设备效率与异常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10 / 13   ·   v1.0 内部使用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71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EFF = 操作时间（运行 + 待机）÷ 计划生产时间；停机按 ReasonID 拆 pDT / uDT（EReason 清单优先）。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52544" y="1371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优先读 status:RUN/IDLE/DOWN 行；无 status 时按“活动 + 停机关键词”推导时间线，输出各状态时长 / 占比 / 小时分布。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1856" y="1371600"/>
            <a:ext cx="3493008" cy="2084831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按关键词命中计数，按机台 / 模组汇总；EReason 清单映射中文原因名称。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一次分析，输出可编辑的 Excel 与 PPT 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11 / 13   ·   v1.0 内部使用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463040"/>
          <a:ext cx="10762488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744968"/>
              </a:tblGrid>
              <a:tr h="410173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4E79"/>
                          </a:solidFill>
                          <a:latin typeface="Times New Roman"/>
                          <a:ea typeface="宋体"/>
                        </a:rPr>
                        <a:t>文件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4E79"/>
                          </a:solidFill>
                          <a:latin typeface="Times New Roman"/>
                          <a:ea typeface="宋体"/>
                        </a:rPr>
                        <a:t>内容</a:t>
                      </a:r>
                    </a:p>
                  </a:txBody>
                  <a:tcPr anchor="ctr"/>
                </a:tc>
              </a:tr>
              <a:tr h="4101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UPH_Analysis.xlsx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Summary / AMESummary / CycleDetail / EMProduction / 步骤分析 / 步骤甘特图</a:t>
                      </a:r>
                    </a:p>
                  </a:txBody>
                  <a:tcPr anchor="ctr"/>
                </a:tc>
              </a:tr>
              <a:tr h="4101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EFF_Analysis.xlsx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EFF 汇总与停机 Pareto（含 pDT / uDT）</a:t>
                      </a:r>
                    </a:p>
                  </a:txBody>
                  <a:tcPr anchor="ctr"/>
                </a:tc>
              </a:tr>
              <a:tr h="4101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Alarm_Analysis.xlsx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报警汇总、关键词分布、明细（EReason 中文名）</a:t>
                      </a:r>
                    </a:p>
                  </a:txBody>
                  <a:tcPr anchor="ctr"/>
                </a:tc>
              </a:tr>
              <a:tr h="4101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Status_Analysis.xlsx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状态汇总与小时分布</a:t>
                      </a:r>
                    </a:p>
                  </a:txBody>
                  <a:tcPr anchor="ctr"/>
                </a:tc>
              </a:tr>
              <a:tr h="4101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LogAnalysis.xlsx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合并日志（异常行标红）；大文件按日志逐个导出</a:t>
                      </a:r>
                    </a:p>
                  </a:txBody>
                  <a:tcPr anchor="ctr"/>
                </a:tc>
              </a:tr>
              <a:tr h="41017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Analysis_Report.pptx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Times New Roman"/>
                          <a:ea typeface="宋体"/>
                        </a:rPr>
                        <a:t>自动报告：UPH / EFF / 停机 Pareto / 报警 / 状态 + 瓶颈工序甘特图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5989320"/>
            <a:ext cx="10762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时间格式约定：低于 60 秒按秒显示，超过 60 秒按 h:mm:ss；PPT 汇总时间显示到秒。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13232" y="969264"/>
            <a:ext cx="10762487" cy="0"/>
          </a:xfrm>
          <a:prstGeom prst="line">
            <a:avLst/>
          </a:prstGeom>
          <a:ln w="15875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13232" y="292608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4E79"/>
                </a:solidFill>
                <a:latin typeface="Times New Roman"/>
                <a:ea typeface="宋体"/>
              </a:rPr>
              <a:t>使用前注意这几点，避免踩坑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12 / 13   ·   v1.0 内部使用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417320"/>
            <a:ext cx="5321808" cy="2148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大日志保护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原始日志超过约 100 万行时，自动放弃合并、按日志文件逐个导出 Excel，避免卡死。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1344" y="1417320"/>
            <a:ext cx="5321808" cy="2148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EReasonlist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根目录保留 EReasonlist 文件夹，新制程按文件名放入自己的清单，用于状态推导与报警映射。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794760"/>
            <a:ext cx="5321808" cy="2148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PPT 模板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Analysis_Report.pptx 放到程序同目录即可正常生成报告；模板含内部数据，仅限内部传送。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3794760"/>
            <a:ext cx="5321808" cy="2148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79"/>
                </a:solidFill>
                <a:latin typeface="Times New Roman"/>
                <a:ea typeface="宋体"/>
              </a:rPr>
              <a:t>灵活覆盖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日志文件筛选框自动填充与制程匹配的内容，用户有特殊需求可手动输入。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377440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F4E79"/>
                </a:solidFill>
                <a:latin typeface="Times New Roman"/>
                <a:ea typeface="宋体"/>
              </a:rPr>
              <a:t>现在就可以开始第一次分析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383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95959"/>
                </a:solidFill>
                <a:latin typeface="Times New Roman"/>
                <a:ea typeface="宋体"/>
              </a:rPr>
              <a:t>选日志文件夹 → 选制程模板 → 点“自动报告”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24128" y="4114800"/>
            <a:ext cx="329184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24128" y="4389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61264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